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2549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potato and chips example. The objective is not food pricing. The objective is to reset engineering thinking: finished pipe price is a certified, processed, risk-managed product price, not merely steel weight multiplied by raw steel rate.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often do the same with pipe estimates: raw steel rate per kg is compared directly with finished pipe quote. The comparison creates outrage but not insight. Correct analysis requires a common basis.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engineering turn. It introduces a mass balance. With 30 percent yield, one kilogram of potatoes produces only about 0.30 kg chips. At ₹599 per kg chips, the retail value of the output from one kg potatoes is about ₹180, not ₹599.</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bridge to show that raw input value is the base, not the full product price. The finished price carries all steps needed to make the product usable, safe, saleable and available to the customer.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bridge from the food analogy to engineering. It shows that pipe cost is created through process route, specification, assurance and delivery readiness.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driver with an example from refinery work. A small specification change can move a quote more than a raw material price movement.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converts the discussion from complaint to capability. The objective is to create a repeatable estimating model, not to debate every quotation manually.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can be used as a discussion checklist in engineering review. It helps junior engineers challenge quotes with evidence, not emotion.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making it practical. A pipe price intelligence table creates organizational capability: repeatable, auditable and scalable beyond one person.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320"/>
        </a:solidFill>
        <a:effectLst/>
      </p:bgPr>
    </p:bg>
    <p:spTree>
      <p:nvGrpSpPr>
        <p:cNvPr id="1" name=""/>
        <p:cNvGrpSpPr/>
        <p:nvPr/>
      </p:nvGrpSpPr>
      <p:grpSpPr>
        <a:xfrm>
          <a:off x="0" y="0"/>
          <a:ext cx="0" cy="0"/>
          <a:chOff x="0" y="0"/>
          <a:chExt cx="0" cy="0"/>
        </a:xfrm>
      </p:grpSpPr>
      <p:sp>
        <p:nvSpPr>
          <p:cNvPr id="2" name="Shape 0"/>
          <p:cNvSpPr/>
          <p:nvPr/>
        </p:nvSpPr>
        <p:spPr>
          <a:xfrm>
            <a:off x="502920" y="6473952"/>
            <a:ext cx="11155680" cy="0"/>
          </a:xfrm>
          <a:prstGeom prst="line">
            <a:avLst/>
          </a:prstGeom>
          <a:noFill/>
          <a:ln w="10160">
            <a:solidFill>
              <a:srgbClr val="D4A441">
                <a:alpha val="58000"/>
              </a:srgbClr>
            </a:solidFill>
            <a:prstDash val="solid"/>
          </a:ln>
        </p:spPr>
        <p:txBody>
          <a:bodyPr/>
          <a:lstStyle/>
          <a:p>
            <a:endParaRPr lang="en-IN"/>
          </a:p>
        </p:txBody>
      </p:sp>
      <p:sp>
        <p:nvSpPr>
          <p:cNvPr id="3" name="Text 1"/>
          <p:cNvSpPr/>
          <p:nvPr/>
        </p:nvSpPr>
        <p:spPr>
          <a:xfrm>
            <a:off x="530352" y="6519672"/>
            <a:ext cx="5394960" cy="164592"/>
          </a:xfrm>
          <a:prstGeom prst="rect">
            <a:avLst/>
          </a:prstGeom>
          <a:noFill/>
          <a:ln/>
        </p:spPr>
        <p:txBody>
          <a:bodyPr wrap="square" lIns="0" tIns="0" rIns="0" bIns="0" rtlCol="0" anchor="ctr"/>
          <a:lstStyle/>
          <a:p>
            <a:pPr marL="0" indent="0">
              <a:buNone/>
            </a:pPr>
            <a:r>
              <a:rPr lang="en-US" sz="650" dirty="0">
                <a:solidFill>
                  <a:srgbClr val="8493A9"/>
                </a:solidFill>
                <a:latin typeface="Aptos" pitchFamily="34" charset="0"/>
                <a:ea typeface="Aptos" pitchFamily="34" charset="-122"/>
                <a:cs typeface="Aptos" pitchFamily="34" charset="-120"/>
              </a:rPr>
              <a:t>For engineering discussion | Illustrative commercial logic</a:t>
            </a:r>
            <a:endParaRPr lang="en-US" sz="6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94360" y="384048"/>
            <a:ext cx="6949440" cy="256032"/>
          </a:xfrm>
          <a:prstGeom prst="rect">
            <a:avLst/>
          </a:prstGeom>
          <a:noFill/>
          <a:ln/>
        </p:spPr>
        <p:txBody>
          <a:bodyPr wrap="square" lIns="0" tIns="0" rIns="0" bIns="0" rtlCol="0" anchor="ctr"/>
          <a:lstStyle/>
          <a:p>
            <a:pPr marL="0" indent="0">
              <a:buNone/>
            </a:pPr>
            <a:r>
              <a:rPr lang="en-US" sz="1100" b="1" dirty="0">
                <a:solidFill>
                  <a:srgbClr val="D4A441"/>
                </a:solidFill>
                <a:latin typeface="Aptos" pitchFamily="34" charset="0"/>
                <a:ea typeface="Aptos" pitchFamily="34" charset="-122"/>
                <a:cs typeface="Aptos" pitchFamily="34" charset="-120"/>
              </a:rPr>
              <a:t>FROM POTATO TO CHIPS, FROM STEEL TO PIPE</a:t>
            </a:r>
            <a:endParaRPr lang="en-US" sz="1100" dirty="0"/>
          </a:p>
        </p:txBody>
      </p:sp>
      <p:sp>
        <p:nvSpPr>
          <p:cNvPr id="3" name="Text 1"/>
          <p:cNvSpPr/>
          <p:nvPr/>
        </p:nvSpPr>
        <p:spPr>
          <a:xfrm>
            <a:off x="566928" y="841248"/>
            <a:ext cx="5852160" cy="1234440"/>
          </a:xfrm>
          <a:prstGeom prst="rect">
            <a:avLst/>
          </a:prstGeom>
          <a:noFill/>
          <a:ln/>
        </p:spPr>
        <p:txBody>
          <a:bodyPr wrap="square" lIns="0" tIns="0" rIns="0" bIns="0" rtlCol="0" anchor="ctr">
            <a:normAutofit/>
          </a:bodyPr>
          <a:lstStyle/>
          <a:p>
            <a:pPr marL="0" indent="0">
              <a:buNone/>
            </a:pPr>
            <a:r>
              <a:rPr lang="en-US" sz="3900" b="1" dirty="0">
                <a:solidFill>
                  <a:srgbClr val="F7F4E8"/>
                </a:solidFill>
                <a:latin typeface="Aptos Display" pitchFamily="34" charset="0"/>
                <a:ea typeface="Aptos Display" pitchFamily="34" charset="-122"/>
                <a:cs typeface="Aptos Display" pitchFamily="34" charset="-120"/>
              </a:rPr>
              <a:t>Why finished products cannot be priced as raw material</a:t>
            </a:r>
            <a:endParaRPr lang="en-US" sz="3900" dirty="0"/>
          </a:p>
        </p:txBody>
      </p:sp>
      <p:sp>
        <p:nvSpPr>
          <p:cNvPr id="4" name="Text 2"/>
          <p:cNvSpPr/>
          <p:nvPr/>
        </p:nvSpPr>
        <p:spPr>
          <a:xfrm>
            <a:off x="594360" y="2377440"/>
            <a:ext cx="5029200" cy="384048"/>
          </a:xfrm>
          <a:prstGeom prst="rect">
            <a:avLst/>
          </a:prstGeom>
          <a:noFill/>
          <a:ln/>
        </p:spPr>
        <p:txBody>
          <a:bodyPr wrap="square" lIns="0" tIns="0" rIns="0" bIns="0" rtlCol="0" anchor="ctr">
            <a:normAutofit/>
          </a:bodyPr>
          <a:lstStyle/>
          <a:p>
            <a:pPr marL="0" indent="0">
              <a:buNone/>
            </a:pPr>
            <a:r>
              <a:rPr lang="en-US" sz="1650" dirty="0">
                <a:solidFill>
                  <a:srgbClr val="A8B3C7"/>
                </a:solidFill>
                <a:latin typeface="Aptos" pitchFamily="34" charset="0"/>
                <a:ea typeface="Aptos" pitchFamily="34" charset="-122"/>
                <a:cs typeface="Aptos" pitchFamily="34" charset="-120"/>
              </a:rPr>
              <a:t>A simple transformation story to explain pipe pricing.</a:t>
            </a:r>
            <a:endParaRPr lang="en-US" sz="1650" dirty="0"/>
          </a:p>
        </p:txBody>
      </p:sp>
      <p:pic>
        <p:nvPicPr>
          <p:cNvPr id="5" name="Image 0" descr="/mnt/data/f1d391de-a2c4-4c13-abd5-35c11fd0c636.png"/>
          <p:cNvPicPr>
            <a:picLocks noChangeAspect="1"/>
          </p:cNvPicPr>
          <p:nvPr/>
        </p:nvPicPr>
        <p:blipFill>
          <a:blip r:embed="rId3"/>
          <a:srcRect l="4112" r="4112"/>
          <a:stretch/>
        </p:blipFill>
        <p:spPr>
          <a:xfrm>
            <a:off x="6601968" y="658368"/>
            <a:ext cx="2231136" cy="2962656"/>
          </a:xfrm>
          <a:prstGeom prst="rect">
            <a:avLst/>
          </a:prstGeom>
        </p:spPr>
      </p:pic>
      <p:pic>
        <p:nvPicPr>
          <p:cNvPr id="6" name="Image 1" descr="/mnt/data/a43fbf07-19b8-4a6f-bd2b-02ea4365ca12.png"/>
          <p:cNvPicPr>
            <a:picLocks noChangeAspect="1"/>
          </p:cNvPicPr>
          <p:nvPr/>
        </p:nvPicPr>
        <p:blipFill>
          <a:blip r:embed="rId4"/>
          <a:srcRect l="6289" r="6289"/>
          <a:stretch/>
        </p:blipFill>
        <p:spPr>
          <a:xfrm>
            <a:off x="9235440" y="658368"/>
            <a:ext cx="2231136" cy="2962656"/>
          </a:xfrm>
          <a:prstGeom prst="rect">
            <a:avLst/>
          </a:prstGeom>
        </p:spPr>
      </p:pic>
      <p:sp>
        <p:nvSpPr>
          <p:cNvPr id="7" name="Text 3"/>
          <p:cNvSpPr/>
          <p:nvPr/>
        </p:nvSpPr>
        <p:spPr>
          <a:xfrm>
            <a:off x="6601968" y="3730752"/>
            <a:ext cx="2231136" cy="320040"/>
          </a:xfrm>
          <a:prstGeom prst="rect">
            <a:avLst/>
          </a:prstGeom>
          <a:noFill/>
          <a:ln/>
        </p:spPr>
        <p:txBody>
          <a:bodyPr wrap="square" lIns="0" tIns="0" rIns="0" bIns="0" rtlCol="0" anchor="ctr"/>
          <a:lstStyle/>
          <a:p>
            <a:pPr marL="0" indent="0" algn="ctr">
              <a:buNone/>
            </a:pPr>
            <a:r>
              <a:rPr lang="en-US" sz="1200" b="1" dirty="0">
                <a:solidFill>
                  <a:srgbClr val="E1B16A"/>
                </a:solidFill>
                <a:latin typeface="Aptos" pitchFamily="34" charset="0"/>
                <a:ea typeface="Aptos" pitchFamily="34" charset="-122"/>
                <a:cs typeface="Aptos" pitchFamily="34" charset="-120"/>
              </a:rPr>
              <a:t>Raw input</a:t>
            </a:r>
            <a:endParaRPr lang="en-US" sz="1200" dirty="0"/>
          </a:p>
        </p:txBody>
      </p:sp>
      <p:sp>
        <p:nvSpPr>
          <p:cNvPr id="8" name="Text 4"/>
          <p:cNvSpPr/>
          <p:nvPr/>
        </p:nvSpPr>
        <p:spPr>
          <a:xfrm>
            <a:off x="9235440" y="3730752"/>
            <a:ext cx="2231136" cy="320040"/>
          </a:xfrm>
          <a:prstGeom prst="rect">
            <a:avLst/>
          </a:prstGeom>
          <a:noFill/>
          <a:ln/>
        </p:spPr>
        <p:txBody>
          <a:bodyPr wrap="square" lIns="0" tIns="0" rIns="0" bIns="0" rtlCol="0" anchor="ctr"/>
          <a:lstStyle/>
          <a:p>
            <a:pPr marL="0" indent="0" algn="ctr">
              <a:buNone/>
            </a:pPr>
            <a:r>
              <a:rPr lang="en-US" sz="1200" b="1" dirty="0">
                <a:solidFill>
                  <a:srgbClr val="FFCF48"/>
                </a:solidFill>
                <a:latin typeface="Aptos" pitchFamily="34" charset="0"/>
                <a:ea typeface="Aptos" pitchFamily="34" charset="-122"/>
                <a:cs typeface="Aptos" pitchFamily="34" charset="-120"/>
              </a:rPr>
              <a:t>Finished product</a:t>
            </a:r>
            <a:endParaRPr lang="en-US" sz="1200" dirty="0"/>
          </a:p>
        </p:txBody>
      </p:sp>
      <p:sp>
        <p:nvSpPr>
          <p:cNvPr id="9" name="Text 5"/>
          <p:cNvSpPr/>
          <p:nvPr/>
        </p:nvSpPr>
        <p:spPr>
          <a:xfrm>
            <a:off x="6565392" y="4114800"/>
            <a:ext cx="2286000" cy="502920"/>
          </a:xfrm>
          <a:prstGeom prst="rect">
            <a:avLst/>
          </a:prstGeom>
          <a:noFill/>
          <a:ln/>
        </p:spPr>
        <p:txBody>
          <a:bodyPr wrap="square" lIns="0" tIns="0" rIns="0" bIns="0" rtlCol="0" anchor="ctr">
            <a:normAutofit/>
          </a:bodyPr>
          <a:lstStyle/>
          <a:p>
            <a:pPr marL="0" indent="0" algn="ctr">
              <a:buNone/>
            </a:pPr>
            <a:r>
              <a:rPr lang="en-US" sz="2100" b="1" dirty="0">
                <a:solidFill>
                  <a:srgbClr val="FFC000"/>
                </a:solidFill>
                <a:latin typeface="Aptos Display" pitchFamily="34" charset="0"/>
                <a:ea typeface="Aptos Display" pitchFamily="34" charset="-122"/>
                <a:cs typeface="Aptos Display" pitchFamily="34" charset="-120"/>
              </a:rPr>
              <a:t>₹40/kg </a:t>
            </a:r>
            <a:endParaRPr lang="en-US" sz="2100" dirty="0">
              <a:solidFill>
                <a:srgbClr val="FFC000"/>
              </a:solidFill>
            </a:endParaRPr>
          </a:p>
        </p:txBody>
      </p:sp>
      <p:sp>
        <p:nvSpPr>
          <p:cNvPr id="10" name="Text 6"/>
          <p:cNvSpPr/>
          <p:nvPr/>
        </p:nvSpPr>
        <p:spPr>
          <a:xfrm>
            <a:off x="9235440" y="4114800"/>
            <a:ext cx="2231136" cy="502920"/>
          </a:xfrm>
          <a:prstGeom prst="rect">
            <a:avLst/>
          </a:prstGeom>
          <a:noFill/>
          <a:ln/>
        </p:spPr>
        <p:txBody>
          <a:bodyPr wrap="square" lIns="0" tIns="0" rIns="0" bIns="0" rtlCol="0" anchor="ctr"/>
          <a:lstStyle/>
          <a:p>
            <a:pPr marL="0" indent="0" algn="ctr">
              <a:buNone/>
            </a:pPr>
            <a:r>
              <a:rPr lang="en-US" sz="2500" b="1" dirty="0">
                <a:solidFill>
                  <a:srgbClr val="D4A441"/>
                </a:solidFill>
                <a:latin typeface="Aptos Display" pitchFamily="34" charset="0"/>
                <a:ea typeface="Aptos Display" pitchFamily="34" charset="-122"/>
                <a:cs typeface="Aptos Display" pitchFamily="34" charset="-120"/>
              </a:rPr>
              <a:t>₹599/kg</a:t>
            </a:r>
            <a:endParaRPr lang="en-US" sz="2500" dirty="0"/>
          </a:p>
        </p:txBody>
      </p:sp>
      <p:sp>
        <p:nvSpPr>
          <p:cNvPr id="11" name="Text 7"/>
          <p:cNvSpPr/>
          <p:nvPr/>
        </p:nvSpPr>
        <p:spPr>
          <a:xfrm>
            <a:off x="640080" y="3063240"/>
            <a:ext cx="5212080" cy="1143000"/>
          </a:xfrm>
          <a:prstGeom prst="roundRect">
            <a:avLst>
              <a:gd name="adj" fmla="val 9600"/>
            </a:avLst>
          </a:prstGeom>
          <a:solidFill>
            <a:srgbClr val="182235"/>
          </a:solidFill>
          <a:ln w="10160">
            <a:solidFill>
              <a:srgbClr val="2F3B52">
                <a:alpha val="85000"/>
              </a:srgbClr>
            </a:solidFill>
          </a:ln>
        </p:spPr>
        <p:txBody>
          <a:bodyPr wrap="square" lIns="1524" tIns="1524" rIns="1524" bIns="1524" rtlCol="0" anchor="ctr">
            <a:normAutofit/>
          </a:bodyPr>
          <a:lstStyle/>
          <a:p>
            <a:pPr marL="0" indent="0">
              <a:buNone/>
            </a:pPr>
            <a:r>
              <a:rPr lang="en-US" sz="1500" dirty="0">
                <a:solidFill>
                  <a:srgbClr val="F7F4E8"/>
                </a:solidFill>
                <a:latin typeface="Aptos" pitchFamily="34" charset="0"/>
                <a:ea typeface="Aptos" pitchFamily="34" charset="-122"/>
                <a:cs typeface="Aptos" pitchFamily="34" charset="-120"/>
              </a:rPr>
              <a:t>Core idea: raw material is only one input. Finished pipe price includes conversion, testing, standards, risk, inventory, logistics and supplier margin.</a:t>
            </a:r>
            <a:endParaRPr lang="en-US" sz="1500" dirty="0"/>
          </a:p>
        </p:txBody>
      </p:sp>
      <p:sp>
        <p:nvSpPr>
          <p:cNvPr id="12" name="Text 8"/>
          <p:cNvSpPr/>
          <p:nvPr/>
        </p:nvSpPr>
        <p:spPr>
          <a:xfrm>
            <a:off x="658368" y="4617720"/>
            <a:ext cx="5166360" cy="411480"/>
          </a:xfrm>
          <a:prstGeom prst="roundRect">
            <a:avLst>
              <a:gd name="adj" fmla="val 17778"/>
            </a:avLst>
          </a:prstGeom>
          <a:solidFill>
            <a:srgbClr val="F59E0B"/>
          </a:solidFill>
          <a:ln>
            <a:solidFill>
              <a:srgbClr val="F59E0B">
                <a:alpha val="0"/>
              </a:srgbClr>
            </a:solidFill>
          </a:ln>
        </p:spPr>
        <p:txBody>
          <a:bodyPr wrap="square" lIns="508" tIns="508" rIns="508" bIns="508" rtlCol="0" anchor="ctr"/>
          <a:lstStyle/>
          <a:p>
            <a:pPr marL="0" indent="0" algn="ctr">
              <a:buNone/>
            </a:pPr>
            <a:r>
              <a:rPr lang="en-US" sz="1250" b="1" dirty="0">
                <a:solidFill>
                  <a:srgbClr val="FFFFFF"/>
                </a:solidFill>
                <a:latin typeface="Aptos" pitchFamily="34" charset="0"/>
                <a:ea typeface="Aptos" pitchFamily="34" charset="-122"/>
                <a:cs typeface="Aptos" pitchFamily="34" charset="-120"/>
              </a:rPr>
              <a:t>Do not compare only the kilograms. Compare the value state.</a:t>
            </a:r>
            <a:endParaRPr lang="en-US" sz="12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66928" y="274320"/>
            <a:ext cx="4389120" cy="228600"/>
          </a:xfrm>
          <a:prstGeom prst="rect">
            <a:avLst/>
          </a:prstGeom>
          <a:noFill/>
          <a:ln/>
        </p:spPr>
        <p:txBody>
          <a:bodyPr wrap="square" lIns="0" tIns="0" rIns="0" bIns="0" rtlCol="0" anchor="ctr"/>
          <a:lstStyle/>
          <a:p>
            <a:pPr marL="0" indent="0">
              <a:buNone/>
            </a:pPr>
            <a:r>
              <a:rPr lang="en-US" sz="900" b="1" dirty="0">
                <a:solidFill>
                  <a:srgbClr val="D4A441"/>
                </a:solidFill>
                <a:latin typeface="Aptos" pitchFamily="34" charset="0"/>
                <a:ea typeface="Aptos" pitchFamily="34" charset="-122"/>
                <a:cs typeface="Aptos" pitchFamily="34" charset="-120"/>
              </a:rPr>
              <a:t>PRICE SHOCK</a:t>
            </a:r>
            <a:endParaRPr lang="en-US" sz="900" dirty="0"/>
          </a:p>
        </p:txBody>
      </p:sp>
      <p:sp>
        <p:nvSpPr>
          <p:cNvPr id="3" name="Text 1"/>
          <p:cNvSpPr/>
          <p:nvPr/>
        </p:nvSpPr>
        <p:spPr>
          <a:xfrm>
            <a:off x="548640" y="566928"/>
            <a:ext cx="10789920" cy="502920"/>
          </a:xfrm>
          <a:prstGeom prst="rect">
            <a:avLst/>
          </a:prstGeom>
          <a:noFill/>
          <a:ln/>
        </p:spPr>
        <p:txBody>
          <a:bodyPr wrap="square" lIns="0" tIns="0" rIns="0" bIns="0" rtlCol="0" anchor="ctr">
            <a:normAutofit/>
          </a:bodyPr>
          <a:lstStyle/>
          <a:p>
            <a:pPr marL="0" indent="0">
              <a:buNone/>
            </a:pPr>
            <a:r>
              <a:rPr lang="en-US" sz="2550" b="1" dirty="0">
                <a:solidFill>
                  <a:srgbClr val="F7F4E8"/>
                </a:solidFill>
                <a:latin typeface="Aptos Display" pitchFamily="34" charset="0"/>
                <a:ea typeface="Aptos Display" pitchFamily="34" charset="-122"/>
                <a:cs typeface="Aptos Display" pitchFamily="34" charset="-120"/>
              </a:rPr>
              <a:t>The first comparison looks shocking, but it is incomplete</a:t>
            </a:r>
            <a:endParaRPr lang="en-US" sz="2550" dirty="0"/>
          </a:p>
        </p:txBody>
      </p:sp>
      <p:pic>
        <p:nvPicPr>
          <p:cNvPr id="4" name="Image 0" descr="/mnt/data/f1d391de-a2c4-4c13-abd5-35c11fd0c636.png"/>
          <p:cNvPicPr>
            <a:picLocks noChangeAspect="1"/>
          </p:cNvPicPr>
          <p:nvPr/>
        </p:nvPicPr>
        <p:blipFill>
          <a:blip r:embed="rId3"/>
          <a:srcRect t="766" b="766"/>
          <a:stretch/>
        </p:blipFill>
        <p:spPr>
          <a:xfrm>
            <a:off x="731520" y="1371600"/>
            <a:ext cx="2514600" cy="3017520"/>
          </a:xfrm>
          <a:prstGeom prst="rect">
            <a:avLst/>
          </a:prstGeom>
        </p:spPr>
      </p:pic>
      <p:pic>
        <p:nvPicPr>
          <p:cNvPr id="5" name="Image 1" descr="/mnt/data/a43fbf07-19b8-4a6f-bd2b-02ea4365ca12.png"/>
          <p:cNvPicPr>
            <a:picLocks noChangeAspect="1"/>
          </p:cNvPicPr>
          <p:nvPr/>
        </p:nvPicPr>
        <p:blipFill>
          <a:blip r:embed="rId4"/>
          <a:srcRect l="1631" r="1631"/>
          <a:stretch/>
        </p:blipFill>
        <p:spPr>
          <a:xfrm>
            <a:off x="8961120" y="1371600"/>
            <a:ext cx="2514600" cy="3017520"/>
          </a:xfrm>
          <a:prstGeom prst="rect">
            <a:avLst/>
          </a:prstGeom>
        </p:spPr>
      </p:pic>
      <p:sp>
        <p:nvSpPr>
          <p:cNvPr id="6" name="Text 2"/>
          <p:cNvSpPr/>
          <p:nvPr/>
        </p:nvSpPr>
        <p:spPr>
          <a:xfrm>
            <a:off x="749808" y="4572000"/>
            <a:ext cx="2468880" cy="502920"/>
          </a:xfrm>
          <a:prstGeom prst="rect">
            <a:avLst/>
          </a:prstGeom>
          <a:noFill/>
          <a:ln/>
        </p:spPr>
        <p:txBody>
          <a:bodyPr wrap="square" lIns="0" tIns="0" rIns="0" bIns="0" rtlCol="0" anchor="ctr"/>
          <a:lstStyle/>
          <a:p>
            <a:pPr marL="0" indent="0" algn="ctr">
              <a:buNone/>
            </a:pPr>
            <a:r>
              <a:rPr lang="en-US" sz="2500" b="1" dirty="0">
                <a:solidFill>
                  <a:srgbClr val="F7F4E8"/>
                </a:solidFill>
                <a:latin typeface="Aptos Display" pitchFamily="34" charset="0"/>
                <a:ea typeface="Aptos Display" pitchFamily="34" charset="-122"/>
                <a:cs typeface="Aptos Display" pitchFamily="34" charset="-120"/>
              </a:rPr>
              <a:t>₹40/kg</a:t>
            </a:r>
            <a:endParaRPr lang="en-US" sz="2500" dirty="0"/>
          </a:p>
        </p:txBody>
      </p:sp>
      <p:sp>
        <p:nvSpPr>
          <p:cNvPr id="7" name="Text 3"/>
          <p:cNvSpPr/>
          <p:nvPr/>
        </p:nvSpPr>
        <p:spPr>
          <a:xfrm>
            <a:off x="8979408" y="4572000"/>
            <a:ext cx="2468880" cy="502920"/>
          </a:xfrm>
          <a:prstGeom prst="rect">
            <a:avLst/>
          </a:prstGeom>
          <a:noFill/>
          <a:ln/>
        </p:spPr>
        <p:txBody>
          <a:bodyPr wrap="square" lIns="0" tIns="0" rIns="0" bIns="0" rtlCol="0" anchor="ctr"/>
          <a:lstStyle/>
          <a:p>
            <a:pPr marL="0" indent="0" algn="ctr">
              <a:buNone/>
            </a:pPr>
            <a:r>
              <a:rPr lang="en-US" sz="2500" b="1" dirty="0">
                <a:solidFill>
                  <a:srgbClr val="D4A441"/>
                </a:solidFill>
                <a:latin typeface="Aptos Display" pitchFamily="34" charset="0"/>
                <a:ea typeface="Aptos Display" pitchFamily="34" charset="-122"/>
                <a:cs typeface="Aptos Display" pitchFamily="34" charset="-120"/>
              </a:rPr>
              <a:t>₹599/kg</a:t>
            </a:r>
            <a:endParaRPr lang="en-US" sz="2500" dirty="0"/>
          </a:p>
        </p:txBody>
      </p:sp>
      <p:sp>
        <p:nvSpPr>
          <p:cNvPr id="8" name="Text 4"/>
          <p:cNvSpPr/>
          <p:nvPr/>
        </p:nvSpPr>
        <p:spPr>
          <a:xfrm>
            <a:off x="4718304" y="1828800"/>
            <a:ext cx="2651760" cy="786384"/>
          </a:xfrm>
          <a:prstGeom prst="rect">
            <a:avLst/>
          </a:prstGeom>
          <a:noFill/>
          <a:ln/>
        </p:spPr>
        <p:txBody>
          <a:bodyPr wrap="square" lIns="0" tIns="0" rIns="0" bIns="0" rtlCol="0" anchor="ctr"/>
          <a:lstStyle/>
          <a:p>
            <a:pPr marL="0" indent="0" algn="ctr">
              <a:buNone/>
            </a:pPr>
            <a:r>
              <a:rPr lang="en-US" sz="4500" b="1" dirty="0">
                <a:solidFill>
                  <a:srgbClr val="D4A441"/>
                </a:solidFill>
                <a:latin typeface="Aptos Display" pitchFamily="34" charset="0"/>
                <a:ea typeface="Aptos Display" pitchFamily="34" charset="-122"/>
                <a:cs typeface="Aptos Display" pitchFamily="34" charset="-120"/>
              </a:rPr>
              <a:t>15x</a:t>
            </a:r>
            <a:endParaRPr lang="en-US" sz="4500" dirty="0"/>
          </a:p>
        </p:txBody>
      </p:sp>
      <p:sp>
        <p:nvSpPr>
          <p:cNvPr id="9" name="Text 5"/>
          <p:cNvSpPr/>
          <p:nvPr/>
        </p:nvSpPr>
        <p:spPr>
          <a:xfrm>
            <a:off x="4206240" y="2852928"/>
            <a:ext cx="3657600" cy="320040"/>
          </a:xfrm>
          <a:prstGeom prst="rect">
            <a:avLst/>
          </a:prstGeom>
          <a:noFill/>
          <a:ln/>
        </p:spPr>
        <p:txBody>
          <a:bodyPr wrap="square" lIns="0" tIns="0" rIns="0" bIns="0" rtlCol="0" anchor="ctr"/>
          <a:lstStyle/>
          <a:p>
            <a:pPr marL="0" indent="0" algn="ctr">
              <a:buNone/>
            </a:pPr>
            <a:r>
              <a:rPr lang="en-US" sz="1300" dirty="0">
                <a:solidFill>
                  <a:srgbClr val="A8B3C7"/>
                </a:solidFill>
                <a:latin typeface="Aptos" pitchFamily="34" charset="0"/>
                <a:ea typeface="Aptos" pitchFamily="34" charset="-122"/>
                <a:cs typeface="Aptos" pitchFamily="34" charset="-120"/>
              </a:rPr>
              <a:t>raw price vs retail price</a:t>
            </a:r>
            <a:endParaRPr lang="en-US" sz="1300" dirty="0"/>
          </a:p>
        </p:txBody>
      </p:sp>
      <p:sp>
        <p:nvSpPr>
          <p:cNvPr id="10" name="Text 6"/>
          <p:cNvSpPr/>
          <p:nvPr/>
        </p:nvSpPr>
        <p:spPr>
          <a:xfrm>
            <a:off x="3657600" y="3200400"/>
            <a:ext cx="4846320" cy="960120"/>
          </a:xfrm>
          <a:prstGeom prst="roundRect">
            <a:avLst>
              <a:gd name="adj" fmla="val 11429"/>
            </a:avLst>
          </a:prstGeom>
          <a:solidFill>
            <a:srgbClr val="182235"/>
          </a:solidFill>
          <a:ln w="10160">
            <a:solidFill>
              <a:srgbClr val="2F3B52">
                <a:alpha val="85000"/>
              </a:srgbClr>
            </a:solidFill>
          </a:ln>
        </p:spPr>
        <p:txBody>
          <a:bodyPr wrap="square" lIns="1524" tIns="1524" rIns="1524" bIns="1524" rtlCol="0" anchor="ctr">
            <a:normAutofit/>
          </a:bodyPr>
          <a:lstStyle/>
          <a:p>
            <a:pPr marL="0" indent="0">
              <a:buNone/>
            </a:pPr>
            <a:r>
              <a:rPr lang="en-US" sz="1500" dirty="0">
                <a:solidFill>
                  <a:srgbClr val="F7F4E8"/>
                </a:solidFill>
                <a:latin typeface="Aptos" pitchFamily="34" charset="0"/>
                <a:ea typeface="Aptos" pitchFamily="34" charset="-122"/>
                <a:cs typeface="Aptos" pitchFamily="34" charset="-120"/>
              </a:rPr>
              <a:t>This is a useful attention grabber, but it mixes two different bases: fresh raw input and packaged retail output.</a:t>
            </a:r>
            <a:endParaRPr lang="en-US" sz="1500" dirty="0"/>
          </a:p>
        </p:txBody>
      </p:sp>
      <p:sp>
        <p:nvSpPr>
          <p:cNvPr id="11" name="Text 7"/>
          <p:cNvSpPr/>
          <p:nvPr/>
        </p:nvSpPr>
        <p:spPr>
          <a:xfrm>
            <a:off x="585216" y="6053328"/>
            <a:ext cx="10972800" cy="256032"/>
          </a:xfrm>
          <a:prstGeom prst="rect">
            <a:avLst/>
          </a:prstGeom>
          <a:noFill/>
          <a:ln/>
        </p:spPr>
        <p:txBody>
          <a:bodyPr wrap="square" lIns="0" tIns="0" rIns="0" bIns="0" rtlCol="0" anchor="ctr">
            <a:normAutofit/>
          </a:bodyPr>
          <a:lstStyle/>
          <a:p>
            <a:pPr marL="0" indent="0">
              <a:buNone/>
            </a:pPr>
            <a:r>
              <a:rPr lang="en-US" sz="920" dirty="0">
                <a:solidFill>
                  <a:srgbClr val="A8B3C7"/>
                </a:solidFill>
                <a:latin typeface="Aptos" pitchFamily="34" charset="0"/>
                <a:ea typeface="Aptos" pitchFamily="34" charset="-122"/>
                <a:cs typeface="Aptos" pitchFamily="34" charset="-120"/>
              </a:rPr>
              <a:t>Raw potato price uses the ₹40/kg screenshot. Chips price uses the ₹599/kg screenshot.</a:t>
            </a:r>
            <a:endParaRPr lang="en-US" sz="92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66928" y="274320"/>
            <a:ext cx="4389120" cy="228600"/>
          </a:xfrm>
          <a:prstGeom prst="rect">
            <a:avLst/>
          </a:prstGeom>
          <a:noFill/>
          <a:ln/>
        </p:spPr>
        <p:txBody>
          <a:bodyPr wrap="square" lIns="0" tIns="0" rIns="0" bIns="0" rtlCol="0" anchor="ctr"/>
          <a:lstStyle/>
          <a:p>
            <a:pPr marL="0" indent="0">
              <a:buNone/>
            </a:pPr>
            <a:r>
              <a:rPr lang="en-US" sz="900" b="1" dirty="0">
                <a:solidFill>
                  <a:srgbClr val="D4A441"/>
                </a:solidFill>
                <a:latin typeface="Aptos" pitchFamily="34" charset="0"/>
                <a:ea typeface="Aptos" pitchFamily="34" charset="-122"/>
                <a:cs typeface="Aptos" pitchFamily="34" charset="-120"/>
              </a:rPr>
              <a:t>ENGINEERING CORRECTION</a:t>
            </a:r>
            <a:endParaRPr lang="en-US" sz="900" dirty="0"/>
          </a:p>
        </p:txBody>
      </p:sp>
      <p:sp>
        <p:nvSpPr>
          <p:cNvPr id="3" name="Text 1"/>
          <p:cNvSpPr/>
          <p:nvPr/>
        </p:nvSpPr>
        <p:spPr>
          <a:xfrm>
            <a:off x="548640" y="566928"/>
            <a:ext cx="10789920" cy="502920"/>
          </a:xfrm>
          <a:prstGeom prst="rect">
            <a:avLst/>
          </a:prstGeom>
          <a:noFill/>
          <a:ln/>
        </p:spPr>
        <p:txBody>
          <a:bodyPr wrap="square" lIns="0" tIns="0" rIns="0" bIns="0" rtlCol="0" anchor="ctr">
            <a:normAutofit/>
          </a:bodyPr>
          <a:lstStyle/>
          <a:p>
            <a:pPr marL="0" indent="0">
              <a:buNone/>
            </a:pPr>
            <a:r>
              <a:rPr lang="en-US" sz="2550" b="1" dirty="0">
                <a:solidFill>
                  <a:srgbClr val="F7F4E8"/>
                </a:solidFill>
                <a:latin typeface="Aptos Display" pitchFamily="34" charset="0"/>
                <a:ea typeface="Aptos Display" pitchFamily="34" charset="-122"/>
                <a:cs typeface="Aptos Display" pitchFamily="34" charset="-120"/>
              </a:rPr>
              <a:t>Mass balance changes the economics</a:t>
            </a:r>
            <a:endParaRPr lang="en-US" sz="2550" dirty="0"/>
          </a:p>
        </p:txBody>
      </p:sp>
      <p:sp>
        <p:nvSpPr>
          <p:cNvPr id="4" name="Text 2"/>
          <p:cNvSpPr/>
          <p:nvPr/>
        </p:nvSpPr>
        <p:spPr>
          <a:xfrm>
            <a:off x="777240" y="1874520"/>
            <a:ext cx="2057400" cy="731520"/>
          </a:xfrm>
          <a:prstGeom prst="roundRect">
            <a:avLst>
              <a:gd name="adj" fmla="val 15000"/>
            </a:avLst>
          </a:prstGeom>
          <a:solidFill>
            <a:srgbClr val="E1B16A">
              <a:alpha val="96000"/>
            </a:srgbClr>
          </a:solidFill>
          <a:ln>
            <a:solidFill>
              <a:srgbClr val="E1B16A">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1.0 kg raw potato</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high water content</a:t>
            </a:r>
            <a:endParaRPr lang="en-US" sz="1100" dirty="0"/>
          </a:p>
        </p:txBody>
      </p:sp>
      <p:sp>
        <p:nvSpPr>
          <p:cNvPr id="5" name="Text 3"/>
          <p:cNvSpPr/>
          <p:nvPr/>
        </p:nvSpPr>
        <p:spPr>
          <a:xfrm>
            <a:off x="2999232" y="2103120"/>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6" name="Text 4"/>
          <p:cNvSpPr/>
          <p:nvPr/>
        </p:nvSpPr>
        <p:spPr>
          <a:xfrm>
            <a:off x="3456432" y="1874520"/>
            <a:ext cx="2057400" cy="731520"/>
          </a:xfrm>
          <a:prstGeom prst="roundRect">
            <a:avLst>
              <a:gd name="adj" fmla="val 15000"/>
            </a:avLst>
          </a:prstGeom>
          <a:solidFill>
            <a:srgbClr val="F59E0B">
              <a:alpha val="96000"/>
            </a:srgbClr>
          </a:solidFill>
          <a:ln>
            <a:solidFill>
              <a:srgbClr val="F59E0B">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Slice + fry</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water removed, oil added</a:t>
            </a:r>
            <a:endParaRPr lang="en-US" sz="1100" dirty="0"/>
          </a:p>
        </p:txBody>
      </p:sp>
      <p:sp>
        <p:nvSpPr>
          <p:cNvPr id="7" name="Text 5"/>
          <p:cNvSpPr/>
          <p:nvPr/>
        </p:nvSpPr>
        <p:spPr>
          <a:xfrm>
            <a:off x="5669280" y="2103120"/>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8" name="Text 6"/>
          <p:cNvSpPr/>
          <p:nvPr/>
        </p:nvSpPr>
        <p:spPr>
          <a:xfrm>
            <a:off x="6126480" y="1874520"/>
            <a:ext cx="2057400" cy="731520"/>
          </a:xfrm>
          <a:prstGeom prst="roundRect">
            <a:avLst>
              <a:gd name="adj" fmla="val 15000"/>
            </a:avLst>
          </a:prstGeom>
          <a:solidFill>
            <a:srgbClr val="FFCF48">
              <a:alpha val="96000"/>
            </a:srgbClr>
          </a:solidFill>
          <a:ln>
            <a:solidFill>
              <a:srgbClr val="FFCF48">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~0.30 kg chips</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illustrative yield</a:t>
            </a:r>
            <a:endParaRPr lang="en-US" sz="1100" dirty="0"/>
          </a:p>
        </p:txBody>
      </p:sp>
      <p:sp>
        <p:nvSpPr>
          <p:cNvPr id="9" name="Text 7"/>
          <p:cNvSpPr/>
          <p:nvPr/>
        </p:nvSpPr>
        <p:spPr>
          <a:xfrm>
            <a:off x="8357616" y="2103120"/>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10" name="Text 8"/>
          <p:cNvSpPr/>
          <p:nvPr/>
        </p:nvSpPr>
        <p:spPr>
          <a:xfrm>
            <a:off x="8796528" y="1874520"/>
            <a:ext cx="2286000" cy="731520"/>
          </a:xfrm>
          <a:prstGeom prst="roundRect">
            <a:avLst>
              <a:gd name="adj" fmla="val 15000"/>
            </a:avLst>
          </a:prstGeom>
          <a:solidFill>
            <a:srgbClr val="29B07E">
              <a:alpha val="96000"/>
            </a:srgbClr>
          </a:solidFill>
          <a:ln>
            <a:solidFill>
              <a:srgbClr val="29B07E">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Packaged snack</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brand + retail channel</a:t>
            </a:r>
            <a:endParaRPr lang="en-US" sz="1100" dirty="0"/>
          </a:p>
        </p:txBody>
      </p:sp>
      <p:sp>
        <p:nvSpPr>
          <p:cNvPr id="11" name="Text 9"/>
          <p:cNvSpPr/>
          <p:nvPr/>
        </p:nvSpPr>
        <p:spPr>
          <a:xfrm>
            <a:off x="914400" y="3886200"/>
            <a:ext cx="2011680" cy="411480"/>
          </a:xfrm>
          <a:prstGeom prst="rect">
            <a:avLst/>
          </a:prstGeom>
          <a:noFill/>
          <a:ln/>
        </p:spPr>
        <p:txBody>
          <a:bodyPr wrap="square" lIns="0" tIns="0" rIns="0" bIns="0" rtlCol="0" anchor="ctr">
            <a:normAutofit/>
          </a:bodyPr>
          <a:lstStyle/>
          <a:p>
            <a:pPr marL="0" indent="0" algn="ctr">
              <a:buNone/>
            </a:pPr>
            <a:r>
              <a:rPr lang="en-US" sz="2400" b="1" dirty="0">
                <a:solidFill>
                  <a:srgbClr val="D4A441"/>
                </a:solidFill>
                <a:latin typeface="Aptos Display" pitchFamily="34" charset="0"/>
                <a:ea typeface="Aptos Display" pitchFamily="34" charset="-122"/>
                <a:cs typeface="Aptos Display" pitchFamily="34" charset="-120"/>
              </a:rPr>
              <a:t>₹180</a:t>
            </a:r>
            <a:endParaRPr lang="en-US" sz="2400" dirty="0"/>
          </a:p>
        </p:txBody>
      </p:sp>
      <p:sp>
        <p:nvSpPr>
          <p:cNvPr id="12" name="Text 10"/>
          <p:cNvSpPr/>
          <p:nvPr/>
        </p:nvSpPr>
        <p:spPr>
          <a:xfrm>
            <a:off x="914400" y="4325112"/>
            <a:ext cx="2011680" cy="347472"/>
          </a:xfrm>
          <a:prstGeom prst="rect">
            <a:avLst/>
          </a:prstGeom>
          <a:noFill/>
          <a:ln/>
        </p:spPr>
        <p:txBody>
          <a:bodyPr wrap="square" lIns="0" tIns="0" rIns="0" bIns="0" rtlCol="0" anchor="ctr">
            <a:normAutofit/>
          </a:bodyPr>
          <a:lstStyle/>
          <a:p>
            <a:pPr marL="0" indent="0" algn="ctr">
              <a:buNone/>
            </a:pPr>
            <a:r>
              <a:rPr lang="en-US" sz="950" dirty="0">
                <a:solidFill>
                  <a:srgbClr val="A8B3C7"/>
                </a:solidFill>
                <a:latin typeface="Aptos" pitchFamily="34" charset="0"/>
                <a:ea typeface="Aptos" pitchFamily="34" charset="-122"/>
                <a:cs typeface="Aptos" pitchFamily="34" charset="-120"/>
              </a:rPr>
              <a:t>retail value of 0.30 kg chips</a:t>
            </a:r>
            <a:endParaRPr lang="en-US" sz="950" dirty="0"/>
          </a:p>
        </p:txBody>
      </p:sp>
      <p:sp>
        <p:nvSpPr>
          <p:cNvPr id="13" name="Text 11"/>
          <p:cNvSpPr/>
          <p:nvPr/>
        </p:nvSpPr>
        <p:spPr>
          <a:xfrm>
            <a:off x="3657600" y="3886200"/>
            <a:ext cx="2011680" cy="411480"/>
          </a:xfrm>
          <a:prstGeom prst="rect">
            <a:avLst/>
          </a:prstGeom>
          <a:noFill/>
          <a:ln/>
        </p:spPr>
        <p:txBody>
          <a:bodyPr wrap="square" lIns="0" tIns="0" rIns="0" bIns="0" rtlCol="0" anchor="ctr">
            <a:normAutofit/>
          </a:bodyPr>
          <a:lstStyle/>
          <a:p>
            <a:pPr marL="0" indent="0" algn="ctr">
              <a:buNone/>
            </a:pPr>
            <a:r>
              <a:rPr lang="en-US" sz="2400" b="1" dirty="0">
                <a:solidFill>
                  <a:srgbClr val="E1B16A"/>
                </a:solidFill>
                <a:latin typeface="Aptos Display" pitchFamily="34" charset="0"/>
                <a:ea typeface="Aptos Display" pitchFamily="34" charset="-122"/>
                <a:cs typeface="Aptos Display" pitchFamily="34" charset="-120"/>
              </a:rPr>
              <a:t>₹40</a:t>
            </a:r>
            <a:endParaRPr lang="en-US" sz="2400" dirty="0"/>
          </a:p>
        </p:txBody>
      </p:sp>
      <p:sp>
        <p:nvSpPr>
          <p:cNvPr id="14" name="Text 12"/>
          <p:cNvSpPr/>
          <p:nvPr/>
        </p:nvSpPr>
        <p:spPr>
          <a:xfrm>
            <a:off x="3657600" y="4325112"/>
            <a:ext cx="2011680" cy="347472"/>
          </a:xfrm>
          <a:prstGeom prst="rect">
            <a:avLst/>
          </a:prstGeom>
          <a:noFill/>
          <a:ln/>
        </p:spPr>
        <p:txBody>
          <a:bodyPr wrap="square" lIns="0" tIns="0" rIns="0" bIns="0" rtlCol="0" anchor="ctr">
            <a:normAutofit/>
          </a:bodyPr>
          <a:lstStyle/>
          <a:p>
            <a:pPr marL="0" indent="0" algn="ctr">
              <a:buNone/>
            </a:pPr>
            <a:r>
              <a:rPr lang="en-US" sz="950" dirty="0">
                <a:solidFill>
                  <a:srgbClr val="A8B3C7"/>
                </a:solidFill>
                <a:latin typeface="Aptos" pitchFamily="34" charset="0"/>
                <a:ea typeface="Aptos" pitchFamily="34" charset="-122"/>
                <a:cs typeface="Aptos" pitchFamily="34" charset="-120"/>
              </a:rPr>
              <a:t>raw potato input cost</a:t>
            </a:r>
            <a:endParaRPr lang="en-US" sz="950" dirty="0"/>
          </a:p>
        </p:txBody>
      </p:sp>
      <p:sp>
        <p:nvSpPr>
          <p:cNvPr id="15" name="Text 13"/>
          <p:cNvSpPr/>
          <p:nvPr/>
        </p:nvSpPr>
        <p:spPr>
          <a:xfrm>
            <a:off x="6400800" y="3886200"/>
            <a:ext cx="2011680" cy="411480"/>
          </a:xfrm>
          <a:prstGeom prst="rect">
            <a:avLst/>
          </a:prstGeom>
          <a:noFill/>
          <a:ln/>
        </p:spPr>
        <p:txBody>
          <a:bodyPr wrap="square" lIns="0" tIns="0" rIns="0" bIns="0" rtlCol="0" anchor="ctr">
            <a:normAutofit/>
          </a:bodyPr>
          <a:lstStyle/>
          <a:p>
            <a:pPr marL="0" indent="0" algn="ctr">
              <a:buNone/>
            </a:pPr>
            <a:r>
              <a:rPr lang="en-US" sz="2400" b="1" dirty="0">
                <a:solidFill>
                  <a:srgbClr val="29B07E"/>
                </a:solidFill>
                <a:latin typeface="Aptos Display" pitchFamily="34" charset="0"/>
                <a:ea typeface="Aptos Display" pitchFamily="34" charset="-122"/>
                <a:cs typeface="Aptos Display" pitchFamily="34" charset="-120"/>
              </a:rPr>
              <a:t>4.5x</a:t>
            </a:r>
            <a:endParaRPr lang="en-US" sz="2400" dirty="0"/>
          </a:p>
        </p:txBody>
      </p:sp>
      <p:sp>
        <p:nvSpPr>
          <p:cNvPr id="16" name="Text 14"/>
          <p:cNvSpPr/>
          <p:nvPr/>
        </p:nvSpPr>
        <p:spPr>
          <a:xfrm>
            <a:off x="6400800" y="4325112"/>
            <a:ext cx="2011680" cy="347472"/>
          </a:xfrm>
          <a:prstGeom prst="rect">
            <a:avLst/>
          </a:prstGeom>
          <a:noFill/>
          <a:ln/>
        </p:spPr>
        <p:txBody>
          <a:bodyPr wrap="square" lIns="0" tIns="0" rIns="0" bIns="0" rtlCol="0" anchor="ctr">
            <a:normAutofit/>
          </a:bodyPr>
          <a:lstStyle/>
          <a:p>
            <a:pPr marL="0" indent="0" algn="ctr">
              <a:buNone/>
            </a:pPr>
            <a:r>
              <a:rPr lang="en-US" sz="950" dirty="0">
                <a:solidFill>
                  <a:srgbClr val="A8B3C7"/>
                </a:solidFill>
                <a:latin typeface="Aptos" pitchFamily="34" charset="0"/>
                <a:ea typeface="Aptos" pitchFamily="34" charset="-122"/>
                <a:cs typeface="Aptos" pitchFamily="34" charset="-120"/>
              </a:rPr>
              <a:t>value multiple after yield correction</a:t>
            </a:r>
            <a:endParaRPr lang="en-US" sz="950" dirty="0"/>
          </a:p>
        </p:txBody>
      </p:sp>
      <p:sp>
        <p:nvSpPr>
          <p:cNvPr id="17" name="Text 15"/>
          <p:cNvSpPr/>
          <p:nvPr/>
        </p:nvSpPr>
        <p:spPr>
          <a:xfrm>
            <a:off x="9144000" y="3886200"/>
            <a:ext cx="2011680" cy="411480"/>
          </a:xfrm>
          <a:prstGeom prst="rect">
            <a:avLst/>
          </a:prstGeom>
          <a:noFill/>
          <a:ln/>
        </p:spPr>
        <p:txBody>
          <a:bodyPr wrap="square" lIns="0" tIns="0" rIns="0" bIns="0" rtlCol="0" anchor="ctr">
            <a:normAutofit/>
          </a:bodyPr>
          <a:lstStyle/>
          <a:p>
            <a:pPr marL="0" indent="0" algn="ctr">
              <a:buNone/>
            </a:pPr>
            <a:r>
              <a:rPr lang="en-US" sz="2400" b="1" dirty="0">
                <a:solidFill>
                  <a:srgbClr val="40C4FF"/>
                </a:solidFill>
                <a:latin typeface="Aptos Display" pitchFamily="34" charset="0"/>
                <a:ea typeface="Aptos Display" pitchFamily="34" charset="-122"/>
                <a:cs typeface="Aptos Display" pitchFamily="34" charset="-120"/>
              </a:rPr>
              <a:t>₹140</a:t>
            </a:r>
            <a:endParaRPr lang="en-US" sz="2400" dirty="0"/>
          </a:p>
        </p:txBody>
      </p:sp>
      <p:sp>
        <p:nvSpPr>
          <p:cNvPr id="18" name="Text 16"/>
          <p:cNvSpPr/>
          <p:nvPr/>
        </p:nvSpPr>
        <p:spPr>
          <a:xfrm>
            <a:off x="9144000" y="4325112"/>
            <a:ext cx="2011680" cy="347472"/>
          </a:xfrm>
          <a:prstGeom prst="rect">
            <a:avLst/>
          </a:prstGeom>
          <a:noFill/>
          <a:ln/>
        </p:spPr>
        <p:txBody>
          <a:bodyPr wrap="square" lIns="0" tIns="0" rIns="0" bIns="0" rtlCol="0" anchor="ctr">
            <a:normAutofit/>
          </a:bodyPr>
          <a:lstStyle/>
          <a:p>
            <a:pPr marL="0" indent="0" algn="ctr">
              <a:buNone/>
            </a:pPr>
            <a:r>
              <a:rPr lang="en-US" sz="950" dirty="0">
                <a:solidFill>
                  <a:srgbClr val="A8B3C7"/>
                </a:solidFill>
                <a:latin typeface="Aptos" pitchFamily="34" charset="0"/>
                <a:ea typeface="Aptos" pitchFamily="34" charset="-122"/>
                <a:cs typeface="Aptos" pitchFamily="34" charset="-120"/>
              </a:rPr>
              <a:t>price spread on 1 kg potato input</a:t>
            </a:r>
            <a:endParaRPr lang="en-US" sz="950" dirty="0"/>
          </a:p>
        </p:txBody>
      </p:sp>
      <p:sp>
        <p:nvSpPr>
          <p:cNvPr id="19" name="Text 17"/>
          <p:cNvSpPr/>
          <p:nvPr/>
        </p:nvSpPr>
        <p:spPr>
          <a:xfrm>
            <a:off x="1051560" y="5120640"/>
            <a:ext cx="10149840" cy="658368"/>
          </a:xfrm>
          <a:prstGeom prst="roundRect">
            <a:avLst>
              <a:gd name="adj" fmla="val 16667"/>
            </a:avLst>
          </a:prstGeom>
          <a:solidFill>
            <a:srgbClr val="142035"/>
          </a:solidFill>
          <a:ln w="10160">
            <a:solidFill>
              <a:srgbClr val="2F3B52">
                <a:alpha val="85000"/>
              </a:srgbClr>
            </a:solidFill>
          </a:ln>
        </p:spPr>
        <p:txBody>
          <a:bodyPr wrap="square" lIns="1524" tIns="1524" rIns="1524" bIns="1524" rtlCol="0" anchor="ctr">
            <a:normAutofit/>
          </a:bodyPr>
          <a:lstStyle/>
          <a:p>
            <a:pPr marL="0" indent="0">
              <a:buNone/>
            </a:pPr>
            <a:r>
              <a:rPr lang="en-US" sz="1500" dirty="0">
                <a:solidFill>
                  <a:srgbClr val="F7F4E8"/>
                </a:solidFill>
                <a:latin typeface="Aptos" pitchFamily="34" charset="0"/>
                <a:ea typeface="Aptos" pitchFamily="34" charset="-122"/>
                <a:cs typeface="Aptos" pitchFamily="34" charset="-120"/>
              </a:rPr>
              <a:t>1 kg potatoes does not become 1 kg chips. A fair comparison first converts both sides to a common mass and value basis.</a:t>
            </a:r>
            <a:endParaRPr lang="en-US" sz="15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66928" y="274320"/>
            <a:ext cx="4389120" cy="228600"/>
          </a:xfrm>
          <a:prstGeom prst="rect">
            <a:avLst/>
          </a:prstGeom>
          <a:noFill/>
          <a:ln/>
        </p:spPr>
        <p:txBody>
          <a:bodyPr wrap="square" lIns="0" tIns="0" rIns="0" bIns="0" rtlCol="0" anchor="ctr"/>
          <a:lstStyle/>
          <a:p>
            <a:pPr marL="0" indent="0">
              <a:buNone/>
            </a:pPr>
            <a:r>
              <a:rPr lang="en-US" sz="900" b="1" dirty="0">
                <a:solidFill>
                  <a:srgbClr val="D4A441"/>
                </a:solidFill>
                <a:latin typeface="Aptos" pitchFamily="34" charset="0"/>
                <a:ea typeface="Aptos" pitchFamily="34" charset="-122"/>
                <a:cs typeface="Aptos" pitchFamily="34" charset="-120"/>
              </a:rPr>
              <a:t>VALUE BRIDGE</a:t>
            </a:r>
            <a:endParaRPr lang="en-US" sz="900" dirty="0"/>
          </a:p>
        </p:txBody>
      </p:sp>
      <p:sp>
        <p:nvSpPr>
          <p:cNvPr id="3" name="Text 1"/>
          <p:cNvSpPr/>
          <p:nvPr/>
        </p:nvSpPr>
        <p:spPr>
          <a:xfrm>
            <a:off x="548640" y="566928"/>
            <a:ext cx="10789920" cy="502920"/>
          </a:xfrm>
          <a:prstGeom prst="rect">
            <a:avLst/>
          </a:prstGeom>
          <a:noFill/>
          <a:ln/>
        </p:spPr>
        <p:txBody>
          <a:bodyPr wrap="square" lIns="0" tIns="0" rIns="0" bIns="0" rtlCol="0" anchor="ctr">
            <a:normAutofit/>
          </a:bodyPr>
          <a:lstStyle/>
          <a:p>
            <a:pPr marL="0" indent="0">
              <a:buNone/>
            </a:pPr>
            <a:r>
              <a:rPr lang="en-US" sz="2550" b="1" dirty="0">
                <a:solidFill>
                  <a:srgbClr val="F7F4E8"/>
                </a:solidFill>
                <a:latin typeface="Aptos Display" pitchFamily="34" charset="0"/>
                <a:ea typeface="Aptos Display" pitchFamily="34" charset="-122"/>
                <a:cs typeface="Aptos Display" pitchFamily="34" charset="-120"/>
              </a:rPr>
              <a:t>For 1 kg finished chips, raw potato is only part of the price</a:t>
            </a:r>
            <a:endParaRPr lang="en-US" sz="2550" dirty="0"/>
          </a:p>
        </p:txBody>
      </p:sp>
      <p:sp>
        <p:nvSpPr>
          <p:cNvPr id="4" name="Text 2"/>
          <p:cNvSpPr/>
          <p:nvPr/>
        </p:nvSpPr>
        <p:spPr>
          <a:xfrm>
            <a:off x="822960" y="1097280"/>
            <a:ext cx="3657600" cy="256032"/>
          </a:xfrm>
          <a:prstGeom prst="rect">
            <a:avLst/>
          </a:prstGeom>
          <a:noFill/>
          <a:ln/>
        </p:spPr>
        <p:txBody>
          <a:bodyPr wrap="square" lIns="0" tIns="0" rIns="0" bIns="0" rtlCol="0" anchor="ctr"/>
          <a:lstStyle/>
          <a:p>
            <a:pPr marL="0" indent="0">
              <a:buNone/>
            </a:pPr>
            <a:r>
              <a:rPr lang="en-US" sz="1050" dirty="0">
                <a:solidFill>
                  <a:srgbClr val="A8B3C7"/>
                </a:solidFill>
                <a:latin typeface="Aptos" pitchFamily="34" charset="0"/>
                <a:ea typeface="Aptos" pitchFamily="34" charset="-122"/>
                <a:cs typeface="Aptos" pitchFamily="34" charset="-120"/>
              </a:rPr>
              <a:t>Illustrative ₹/kg finished chips</a:t>
            </a:r>
            <a:endParaRPr lang="en-US" sz="1050" dirty="0"/>
          </a:p>
        </p:txBody>
      </p:sp>
      <p:sp>
        <p:nvSpPr>
          <p:cNvPr id="5" name="Text 3"/>
          <p:cNvSpPr/>
          <p:nvPr/>
        </p:nvSpPr>
        <p:spPr>
          <a:xfrm>
            <a:off x="822960" y="1508760"/>
            <a:ext cx="4251960" cy="731520"/>
          </a:xfrm>
          <a:prstGeom prst="roundRect">
            <a:avLst>
              <a:gd name="adj" fmla="val 15000"/>
            </a:avLst>
          </a:prstGeom>
          <a:solidFill>
            <a:srgbClr val="182235"/>
          </a:solidFill>
          <a:ln w="15240">
            <a:solidFill>
              <a:srgbClr val="E1B16A">
                <a:alpha val="92000"/>
              </a:srgbClr>
            </a:solidFill>
          </a:ln>
        </p:spPr>
        <p:txBody>
          <a:bodyPr wrap="square" lIns="1016" tIns="1016" rIns="1016" bIns="1016" rtlCol="0" anchor="ctr">
            <a:normAutofit/>
          </a:bodyPr>
          <a:lstStyle/>
          <a:p>
            <a:pPr marL="0" indent="0">
              <a:buNone/>
            </a:pPr>
            <a:r>
              <a:rPr lang="en-US" sz="1270" b="1" dirty="0">
                <a:solidFill>
                  <a:srgbClr val="F7F4E8"/>
                </a:solidFill>
                <a:latin typeface="Aptos" pitchFamily="34" charset="0"/>
                <a:ea typeface="Aptos" pitchFamily="34" charset="-122"/>
                <a:cs typeface="Aptos" pitchFamily="34" charset="-120"/>
              </a:rPr>
              <a:t>₹133</a:t>
            </a:r>
            <a:endParaRPr lang="en-US" sz="1270" dirty="0"/>
          </a:p>
          <a:p>
            <a:pPr marL="0" indent="0">
              <a:buNone/>
            </a:pPr>
            <a:r>
              <a:rPr lang="en-US" sz="1270" b="1" dirty="0">
                <a:solidFill>
                  <a:srgbClr val="F7F4E8"/>
                </a:solidFill>
                <a:latin typeface="Aptos" pitchFamily="34" charset="0"/>
                <a:ea typeface="Aptos" pitchFamily="34" charset="-122"/>
                <a:cs typeface="Aptos" pitchFamily="34" charset="-120"/>
              </a:rPr>
              <a:t>Potato input after yield</a:t>
            </a:r>
            <a:endParaRPr lang="en-US" sz="1270" dirty="0"/>
          </a:p>
        </p:txBody>
      </p:sp>
      <p:sp>
        <p:nvSpPr>
          <p:cNvPr id="6" name="Text 4"/>
          <p:cNvSpPr/>
          <p:nvPr/>
        </p:nvSpPr>
        <p:spPr>
          <a:xfrm>
            <a:off x="5897880" y="1508760"/>
            <a:ext cx="4251960" cy="731520"/>
          </a:xfrm>
          <a:prstGeom prst="roundRect">
            <a:avLst>
              <a:gd name="adj" fmla="val 15000"/>
            </a:avLst>
          </a:prstGeom>
          <a:solidFill>
            <a:srgbClr val="182235"/>
          </a:solidFill>
          <a:ln w="15240">
            <a:solidFill>
              <a:srgbClr val="FFCF48">
                <a:alpha val="92000"/>
              </a:srgbClr>
            </a:solidFill>
          </a:ln>
        </p:spPr>
        <p:txBody>
          <a:bodyPr wrap="square" lIns="1016" tIns="1016" rIns="1016" bIns="1016" rtlCol="0" anchor="ctr">
            <a:normAutofit/>
          </a:bodyPr>
          <a:lstStyle/>
          <a:p>
            <a:pPr marL="0" indent="0">
              <a:buNone/>
            </a:pPr>
            <a:r>
              <a:rPr lang="en-US" sz="1270" b="1" dirty="0">
                <a:solidFill>
                  <a:srgbClr val="F7F4E8"/>
                </a:solidFill>
                <a:latin typeface="Aptos" pitchFamily="34" charset="0"/>
                <a:ea typeface="Aptos" pitchFamily="34" charset="-122"/>
                <a:cs typeface="Aptos" pitchFamily="34" charset="-120"/>
              </a:rPr>
              <a:t>₹45</a:t>
            </a:r>
            <a:endParaRPr lang="en-US" sz="1270" dirty="0"/>
          </a:p>
          <a:p>
            <a:pPr marL="0" indent="0">
              <a:buNone/>
            </a:pPr>
            <a:r>
              <a:rPr lang="en-US" sz="1270" b="1" dirty="0">
                <a:solidFill>
                  <a:srgbClr val="F7F4E8"/>
                </a:solidFill>
                <a:latin typeface="Aptos" pitchFamily="34" charset="0"/>
                <a:ea typeface="Aptos" pitchFamily="34" charset="-122"/>
                <a:cs typeface="Aptos" pitchFamily="34" charset="-120"/>
              </a:rPr>
              <a:t>Oil, salt, ingredients</a:t>
            </a:r>
            <a:endParaRPr lang="en-US" sz="1270" dirty="0"/>
          </a:p>
        </p:txBody>
      </p:sp>
      <p:sp>
        <p:nvSpPr>
          <p:cNvPr id="7" name="Text 5"/>
          <p:cNvSpPr/>
          <p:nvPr/>
        </p:nvSpPr>
        <p:spPr>
          <a:xfrm>
            <a:off x="822960" y="2587752"/>
            <a:ext cx="4251960" cy="731520"/>
          </a:xfrm>
          <a:prstGeom prst="roundRect">
            <a:avLst>
              <a:gd name="adj" fmla="val 15000"/>
            </a:avLst>
          </a:prstGeom>
          <a:solidFill>
            <a:srgbClr val="182235"/>
          </a:solidFill>
          <a:ln w="15240">
            <a:solidFill>
              <a:srgbClr val="F59E0B">
                <a:alpha val="92000"/>
              </a:srgbClr>
            </a:solidFill>
          </a:ln>
        </p:spPr>
        <p:txBody>
          <a:bodyPr wrap="square" lIns="1016" tIns="1016" rIns="1016" bIns="1016" rtlCol="0" anchor="ctr">
            <a:normAutofit/>
          </a:bodyPr>
          <a:lstStyle/>
          <a:p>
            <a:pPr marL="0" indent="0">
              <a:buNone/>
            </a:pPr>
            <a:r>
              <a:rPr lang="en-US" sz="1270" b="1" dirty="0">
                <a:solidFill>
                  <a:srgbClr val="F7F4E8"/>
                </a:solidFill>
                <a:latin typeface="Aptos" pitchFamily="34" charset="0"/>
                <a:ea typeface="Aptos" pitchFamily="34" charset="-122"/>
                <a:cs typeface="Aptos" pitchFamily="34" charset="-120"/>
              </a:rPr>
              <a:t>₹70</a:t>
            </a:r>
            <a:endParaRPr lang="en-US" sz="1270" dirty="0"/>
          </a:p>
          <a:p>
            <a:pPr marL="0" indent="0">
              <a:buNone/>
            </a:pPr>
            <a:r>
              <a:rPr lang="en-US" sz="1270" b="1" dirty="0">
                <a:solidFill>
                  <a:srgbClr val="F7F4E8"/>
                </a:solidFill>
                <a:latin typeface="Aptos" pitchFamily="34" charset="0"/>
                <a:ea typeface="Aptos" pitchFamily="34" charset="-122"/>
                <a:cs typeface="Aptos" pitchFamily="34" charset="-120"/>
              </a:rPr>
              <a:t>Processing, energy, labor</a:t>
            </a:r>
            <a:endParaRPr lang="en-US" sz="1270" dirty="0"/>
          </a:p>
        </p:txBody>
      </p:sp>
      <p:sp>
        <p:nvSpPr>
          <p:cNvPr id="8" name="Text 6"/>
          <p:cNvSpPr/>
          <p:nvPr/>
        </p:nvSpPr>
        <p:spPr>
          <a:xfrm>
            <a:off x="5897880" y="2587752"/>
            <a:ext cx="4251960" cy="731520"/>
          </a:xfrm>
          <a:prstGeom prst="roundRect">
            <a:avLst>
              <a:gd name="adj" fmla="val 15000"/>
            </a:avLst>
          </a:prstGeom>
          <a:solidFill>
            <a:srgbClr val="182235"/>
          </a:solidFill>
          <a:ln w="15240">
            <a:solidFill>
              <a:srgbClr val="40C4FF">
                <a:alpha val="92000"/>
              </a:srgbClr>
            </a:solidFill>
          </a:ln>
        </p:spPr>
        <p:txBody>
          <a:bodyPr wrap="square" lIns="1016" tIns="1016" rIns="1016" bIns="1016" rtlCol="0" anchor="ctr">
            <a:normAutofit/>
          </a:bodyPr>
          <a:lstStyle/>
          <a:p>
            <a:pPr marL="0" indent="0">
              <a:buNone/>
            </a:pPr>
            <a:r>
              <a:rPr lang="en-US" sz="1270" b="1" dirty="0">
                <a:solidFill>
                  <a:srgbClr val="F7F4E8"/>
                </a:solidFill>
                <a:latin typeface="Aptos" pitchFamily="34" charset="0"/>
                <a:ea typeface="Aptos" pitchFamily="34" charset="-122"/>
                <a:cs typeface="Aptos" pitchFamily="34" charset="-120"/>
              </a:rPr>
              <a:t>₹65</a:t>
            </a:r>
            <a:endParaRPr lang="en-US" sz="1270" dirty="0"/>
          </a:p>
          <a:p>
            <a:pPr marL="0" indent="0">
              <a:buNone/>
            </a:pPr>
            <a:r>
              <a:rPr lang="en-US" sz="1270" b="1" dirty="0">
                <a:solidFill>
                  <a:srgbClr val="F7F4E8"/>
                </a:solidFill>
                <a:latin typeface="Aptos" pitchFamily="34" charset="0"/>
                <a:ea typeface="Aptos" pitchFamily="34" charset="-122"/>
                <a:cs typeface="Aptos" pitchFamily="34" charset="-120"/>
              </a:rPr>
              <a:t>Quality, wastage, packaging</a:t>
            </a:r>
            <a:endParaRPr lang="en-US" sz="1270" dirty="0"/>
          </a:p>
        </p:txBody>
      </p:sp>
      <p:sp>
        <p:nvSpPr>
          <p:cNvPr id="9" name="Text 7"/>
          <p:cNvSpPr/>
          <p:nvPr/>
        </p:nvSpPr>
        <p:spPr>
          <a:xfrm>
            <a:off x="822960" y="3666744"/>
            <a:ext cx="4251960" cy="731520"/>
          </a:xfrm>
          <a:prstGeom prst="roundRect">
            <a:avLst>
              <a:gd name="adj" fmla="val 15000"/>
            </a:avLst>
          </a:prstGeom>
          <a:solidFill>
            <a:srgbClr val="182235"/>
          </a:solidFill>
          <a:ln w="15240">
            <a:solidFill>
              <a:srgbClr val="6D7D90">
                <a:alpha val="92000"/>
              </a:srgbClr>
            </a:solidFill>
          </a:ln>
        </p:spPr>
        <p:txBody>
          <a:bodyPr wrap="square" lIns="1016" tIns="1016" rIns="1016" bIns="1016" rtlCol="0" anchor="ctr">
            <a:normAutofit/>
          </a:bodyPr>
          <a:lstStyle/>
          <a:p>
            <a:pPr marL="0" indent="0">
              <a:buNone/>
            </a:pPr>
            <a:r>
              <a:rPr lang="en-US" sz="1270" b="1" dirty="0">
                <a:solidFill>
                  <a:srgbClr val="F7F4E8"/>
                </a:solidFill>
                <a:latin typeface="Aptos" pitchFamily="34" charset="0"/>
                <a:ea typeface="Aptos" pitchFamily="34" charset="-122"/>
                <a:cs typeface="Aptos" pitchFamily="34" charset="-120"/>
              </a:rPr>
              <a:t>₹55</a:t>
            </a:r>
            <a:endParaRPr lang="en-US" sz="1270" dirty="0"/>
          </a:p>
          <a:p>
            <a:pPr marL="0" indent="0">
              <a:buNone/>
            </a:pPr>
            <a:r>
              <a:rPr lang="en-US" sz="1270" b="1" dirty="0">
                <a:solidFill>
                  <a:srgbClr val="F7F4E8"/>
                </a:solidFill>
                <a:latin typeface="Aptos" pitchFamily="34" charset="0"/>
                <a:ea typeface="Aptos" pitchFamily="34" charset="-122"/>
                <a:cs typeface="Aptos" pitchFamily="34" charset="-120"/>
              </a:rPr>
              <a:t>Logistics and working capital</a:t>
            </a:r>
            <a:endParaRPr lang="en-US" sz="1270" dirty="0"/>
          </a:p>
        </p:txBody>
      </p:sp>
      <p:sp>
        <p:nvSpPr>
          <p:cNvPr id="10" name="Text 8"/>
          <p:cNvSpPr/>
          <p:nvPr/>
        </p:nvSpPr>
        <p:spPr>
          <a:xfrm>
            <a:off x="5897880" y="3666744"/>
            <a:ext cx="4251960" cy="731520"/>
          </a:xfrm>
          <a:prstGeom prst="roundRect">
            <a:avLst>
              <a:gd name="adj" fmla="val 15000"/>
            </a:avLst>
          </a:prstGeom>
          <a:solidFill>
            <a:srgbClr val="182235"/>
          </a:solidFill>
          <a:ln w="15240">
            <a:solidFill>
              <a:srgbClr val="29B07E">
                <a:alpha val="92000"/>
              </a:srgbClr>
            </a:solidFill>
          </a:ln>
        </p:spPr>
        <p:txBody>
          <a:bodyPr wrap="square" lIns="1016" tIns="1016" rIns="1016" bIns="1016" rtlCol="0" anchor="ctr">
            <a:normAutofit/>
          </a:bodyPr>
          <a:lstStyle/>
          <a:p>
            <a:pPr marL="0" indent="0">
              <a:buNone/>
            </a:pPr>
            <a:r>
              <a:rPr lang="en-US" sz="1270" b="1" dirty="0">
                <a:solidFill>
                  <a:srgbClr val="F7F4E8"/>
                </a:solidFill>
                <a:latin typeface="Aptos" pitchFamily="34" charset="0"/>
                <a:ea typeface="Aptos" pitchFamily="34" charset="-122"/>
                <a:cs typeface="Aptos" pitchFamily="34" charset="-120"/>
              </a:rPr>
              <a:t>₹231</a:t>
            </a:r>
            <a:endParaRPr lang="en-US" sz="1270" dirty="0"/>
          </a:p>
          <a:p>
            <a:pPr marL="0" indent="0">
              <a:buNone/>
            </a:pPr>
            <a:r>
              <a:rPr lang="en-US" sz="1270" b="1" dirty="0">
                <a:solidFill>
                  <a:srgbClr val="F7F4E8"/>
                </a:solidFill>
                <a:latin typeface="Aptos" pitchFamily="34" charset="0"/>
                <a:ea typeface="Aptos" pitchFamily="34" charset="-122"/>
                <a:cs typeface="Aptos" pitchFamily="34" charset="-120"/>
              </a:rPr>
              <a:t>Brand, retail, tax, margin</a:t>
            </a:r>
            <a:endParaRPr lang="en-US" sz="1270" dirty="0"/>
          </a:p>
        </p:txBody>
      </p:sp>
      <p:sp>
        <p:nvSpPr>
          <p:cNvPr id="11" name="Text 9"/>
          <p:cNvSpPr/>
          <p:nvPr/>
        </p:nvSpPr>
        <p:spPr>
          <a:xfrm>
            <a:off x="5074920" y="4663440"/>
            <a:ext cx="2057400" cy="786384"/>
          </a:xfrm>
          <a:prstGeom prst="roundRect">
            <a:avLst>
              <a:gd name="adj" fmla="val 20930"/>
            </a:avLst>
          </a:prstGeom>
          <a:solidFill>
            <a:srgbClr val="20304A"/>
          </a:solidFill>
          <a:ln w="19050">
            <a:solidFill>
              <a:srgbClr val="D4A441"/>
            </a:solidFill>
          </a:ln>
        </p:spPr>
        <p:txBody>
          <a:bodyPr wrap="square" lIns="508" tIns="508" rIns="508" bIns="508" rtlCol="0" anchor="ctr">
            <a:normAutofit/>
          </a:bodyPr>
          <a:lstStyle/>
          <a:p>
            <a:pPr marL="0" indent="0" algn="ctr">
              <a:buNone/>
            </a:pPr>
            <a:r>
              <a:rPr lang="en-US" sz="2600" b="1" dirty="0">
                <a:solidFill>
                  <a:srgbClr val="D4A441"/>
                </a:solidFill>
                <a:latin typeface="Aptos Display" pitchFamily="34" charset="0"/>
                <a:ea typeface="Aptos Display" pitchFamily="34" charset="-122"/>
                <a:cs typeface="Aptos Display" pitchFamily="34" charset="-120"/>
              </a:rPr>
              <a:t>Total</a:t>
            </a:r>
            <a:endParaRPr lang="en-US" sz="2600" dirty="0"/>
          </a:p>
          <a:p>
            <a:pPr marL="0" indent="0" algn="ctr">
              <a:buNone/>
            </a:pPr>
            <a:r>
              <a:rPr lang="en-US" sz="2600" b="1" dirty="0">
                <a:solidFill>
                  <a:srgbClr val="D4A441"/>
                </a:solidFill>
                <a:latin typeface="Aptos Display" pitchFamily="34" charset="0"/>
                <a:ea typeface="Aptos Display" pitchFamily="34" charset="-122"/>
                <a:cs typeface="Aptos Display" pitchFamily="34" charset="-120"/>
              </a:rPr>
              <a:t>₹599/kg</a:t>
            </a:r>
            <a:endParaRPr lang="en-US" sz="2600" dirty="0"/>
          </a:p>
        </p:txBody>
      </p:sp>
      <p:sp>
        <p:nvSpPr>
          <p:cNvPr id="12" name="Text 10"/>
          <p:cNvSpPr/>
          <p:nvPr/>
        </p:nvSpPr>
        <p:spPr>
          <a:xfrm>
            <a:off x="960120" y="5532120"/>
            <a:ext cx="10241280" cy="438912"/>
          </a:xfrm>
          <a:prstGeom prst="roundRect">
            <a:avLst>
              <a:gd name="adj" fmla="val 25000"/>
            </a:avLst>
          </a:prstGeom>
          <a:solidFill>
            <a:srgbClr val="142035"/>
          </a:solidFill>
          <a:ln w="10160">
            <a:solidFill>
              <a:srgbClr val="2F3B52">
                <a:alpha val="85000"/>
              </a:srgbClr>
            </a:solidFill>
          </a:ln>
        </p:spPr>
        <p:txBody>
          <a:bodyPr wrap="square" lIns="1524" tIns="1524" rIns="1524" bIns="1524" rtlCol="0" anchor="ctr">
            <a:normAutofit/>
          </a:bodyPr>
          <a:lstStyle/>
          <a:p>
            <a:pPr marL="0" indent="0">
              <a:buNone/>
            </a:pPr>
            <a:r>
              <a:rPr lang="en-US" sz="1350" dirty="0">
                <a:solidFill>
                  <a:srgbClr val="F7F4E8"/>
                </a:solidFill>
                <a:latin typeface="Aptos" pitchFamily="34" charset="0"/>
                <a:ea typeface="Aptos" pitchFamily="34" charset="-122"/>
                <a:cs typeface="Aptos" pitchFamily="34" charset="-120"/>
              </a:rPr>
              <a:t>The price gap is not only “profit.” It includes transformation, assurance, distribution and market access.</a:t>
            </a:r>
            <a:endParaRPr lang="en-US" sz="1350" dirty="0"/>
          </a:p>
        </p:txBody>
      </p:sp>
      <p:sp>
        <p:nvSpPr>
          <p:cNvPr id="13" name="Text 11"/>
          <p:cNvSpPr/>
          <p:nvPr/>
        </p:nvSpPr>
        <p:spPr>
          <a:xfrm>
            <a:off x="585216" y="6053328"/>
            <a:ext cx="10972800" cy="256032"/>
          </a:xfrm>
          <a:prstGeom prst="rect">
            <a:avLst/>
          </a:prstGeom>
          <a:noFill/>
          <a:ln/>
        </p:spPr>
        <p:txBody>
          <a:bodyPr wrap="square" lIns="0" tIns="0" rIns="0" bIns="0" rtlCol="0" anchor="ctr">
            <a:normAutofit/>
          </a:bodyPr>
          <a:lstStyle/>
          <a:p>
            <a:pPr marL="0" indent="0">
              <a:buNone/>
            </a:pPr>
            <a:r>
              <a:rPr lang="en-US" sz="920" dirty="0">
                <a:solidFill>
                  <a:srgbClr val="A8B3C7"/>
                </a:solidFill>
                <a:latin typeface="Aptos" pitchFamily="34" charset="0"/>
                <a:ea typeface="Aptos" pitchFamily="34" charset="-122"/>
                <a:cs typeface="Aptos" pitchFamily="34" charset="-120"/>
              </a:rPr>
              <a:t>Numbers are illustrative. The logic matters more than the exact potato market price.</a:t>
            </a:r>
            <a:endParaRPr lang="en-US" sz="92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66928" y="274320"/>
            <a:ext cx="4389120" cy="228600"/>
          </a:xfrm>
          <a:prstGeom prst="rect">
            <a:avLst/>
          </a:prstGeom>
          <a:noFill/>
          <a:ln/>
        </p:spPr>
        <p:txBody>
          <a:bodyPr wrap="square" lIns="0" tIns="0" rIns="0" bIns="0" rtlCol="0" anchor="ctr"/>
          <a:lstStyle/>
          <a:p>
            <a:pPr marL="0" indent="0">
              <a:buNone/>
            </a:pPr>
            <a:r>
              <a:rPr lang="en-US" sz="900" b="1" dirty="0">
                <a:solidFill>
                  <a:srgbClr val="D4A441"/>
                </a:solidFill>
                <a:latin typeface="Aptos" pitchFamily="34" charset="0"/>
                <a:ea typeface="Aptos" pitchFamily="34" charset="-122"/>
                <a:cs typeface="Aptos" pitchFamily="34" charset="-120"/>
              </a:rPr>
              <a:t>STEEL TO PIPE</a:t>
            </a:r>
            <a:endParaRPr lang="en-US" sz="900" dirty="0"/>
          </a:p>
        </p:txBody>
      </p:sp>
      <p:sp>
        <p:nvSpPr>
          <p:cNvPr id="3" name="Text 1"/>
          <p:cNvSpPr/>
          <p:nvPr/>
        </p:nvSpPr>
        <p:spPr>
          <a:xfrm>
            <a:off x="548640" y="566928"/>
            <a:ext cx="10789920" cy="502920"/>
          </a:xfrm>
          <a:prstGeom prst="rect">
            <a:avLst/>
          </a:prstGeom>
          <a:noFill/>
          <a:ln/>
        </p:spPr>
        <p:txBody>
          <a:bodyPr wrap="square" lIns="0" tIns="0" rIns="0" bIns="0" rtlCol="0" anchor="ctr">
            <a:normAutofit/>
          </a:bodyPr>
          <a:lstStyle/>
          <a:p>
            <a:pPr marL="0" indent="0">
              <a:buNone/>
            </a:pPr>
            <a:r>
              <a:rPr lang="en-US" sz="2550" b="1" dirty="0">
                <a:solidFill>
                  <a:srgbClr val="F7F4E8"/>
                </a:solidFill>
                <a:latin typeface="Aptos Display" pitchFamily="34" charset="0"/>
                <a:ea typeface="Aptos Display" pitchFamily="34" charset="-122"/>
                <a:cs typeface="Aptos Display" pitchFamily="34" charset="-120"/>
              </a:rPr>
              <a:t>The same logic applies to pipe procurement</a:t>
            </a:r>
            <a:endParaRPr lang="en-US" sz="2550" dirty="0"/>
          </a:p>
        </p:txBody>
      </p:sp>
      <p:pic>
        <p:nvPicPr>
          <p:cNvPr id="4" name="Image 0" descr="/mnt/data/a_wide_panoramic_industrial_scene_in_a_high_detail.png"/>
          <p:cNvPicPr>
            <a:picLocks noChangeAspect="1"/>
          </p:cNvPicPr>
          <p:nvPr/>
        </p:nvPicPr>
        <p:blipFill>
          <a:blip r:embed="rId3"/>
          <a:srcRect t="27790" b="27790"/>
          <a:stretch/>
        </p:blipFill>
        <p:spPr>
          <a:xfrm>
            <a:off x="713232" y="1234440"/>
            <a:ext cx="10972800" cy="2743200"/>
          </a:xfrm>
          <a:prstGeom prst="rect">
            <a:avLst/>
          </a:prstGeom>
        </p:spPr>
      </p:pic>
      <p:sp>
        <p:nvSpPr>
          <p:cNvPr id="5" name="Text 2"/>
          <p:cNvSpPr/>
          <p:nvPr/>
        </p:nvSpPr>
        <p:spPr>
          <a:xfrm>
            <a:off x="777240" y="4343400"/>
            <a:ext cx="1417320" cy="731520"/>
          </a:xfrm>
          <a:prstGeom prst="roundRect">
            <a:avLst>
              <a:gd name="adj" fmla="val 15000"/>
            </a:avLst>
          </a:prstGeom>
          <a:solidFill>
            <a:srgbClr val="6D7D90">
              <a:alpha val="96000"/>
            </a:srgbClr>
          </a:solidFill>
          <a:ln>
            <a:solidFill>
              <a:srgbClr val="6D7D90">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Raw steel</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coil, plate, billet</a:t>
            </a:r>
            <a:endParaRPr lang="en-US" sz="1100" dirty="0"/>
          </a:p>
        </p:txBody>
      </p:sp>
      <p:sp>
        <p:nvSpPr>
          <p:cNvPr id="6" name="Text 3"/>
          <p:cNvSpPr/>
          <p:nvPr/>
        </p:nvSpPr>
        <p:spPr>
          <a:xfrm>
            <a:off x="2331720" y="4572000"/>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7" name="Text 4"/>
          <p:cNvSpPr/>
          <p:nvPr/>
        </p:nvSpPr>
        <p:spPr>
          <a:xfrm>
            <a:off x="2788920" y="4343400"/>
            <a:ext cx="1664208" cy="731520"/>
          </a:xfrm>
          <a:prstGeom prst="roundRect">
            <a:avLst>
              <a:gd name="adj" fmla="val 15000"/>
            </a:avLst>
          </a:prstGeom>
          <a:solidFill>
            <a:srgbClr val="40C4FF">
              <a:alpha val="96000"/>
            </a:srgbClr>
          </a:solidFill>
          <a:ln>
            <a:solidFill>
              <a:srgbClr val="40C4FF">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Forming</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seamless or welded route</a:t>
            </a:r>
            <a:endParaRPr lang="en-US" sz="1100" dirty="0"/>
          </a:p>
        </p:txBody>
      </p:sp>
      <p:sp>
        <p:nvSpPr>
          <p:cNvPr id="8" name="Text 5"/>
          <p:cNvSpPr/>
          <p:nvPr/>
        </p:nvSpPr>
        <p:spPr>
          <a:xfrm>
            <a:off x="4572000" y="4572000"/>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9" name="Text 6"/>
          <p:cNvSpPr/>
          <p:nvPr/>
        </p:nvSpPr>
        <p:spPr>
          <a:xfrm>
            <a:off x="5029200" y="4343400"/>
            <a:ext cx="1664208" cy="731520"/>
          </a:xfrm>
          <a:prstGeom prst="roundRect">
            <a:avLst>
              <a:gd name="adj" fmla="val 15000"/>
            </a:avLst>
          </a:prstGeom>
          <a:solidFill>
            <a:srgbClr val="F59E0B">
              <a:alpha val="96000"/>
            </a:srgbClr>
          </a:solidFill>
          <a:ln>
            <a:solidFill>
              <a:srgbClr val="F59E0B">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Heat treatment</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mechanical properties</a:t>
            </a:r>
            <a:endParaRPr lang="en-US" sz="1100" dirty="0"/>
          </a:p>
        </p:txBody>
      </p:sp>
      <p:sp>
        <p:nvSpPr>
          <p:cNvPr id="10" name="Text 7"/>
          <p:cNvSpPr/>
          <p:nvPr/>
        </p:nvSpPr>
        <p:spPr>
          <a:xfrm>
            <a:off x="6812280" y="4572000"/>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11" name="Text 8"/>
          <p:cNvSpPr/>
          <p:nvPr/>
        </p:nvSpPr>
        <p:spPr>
          <a:xfrm>
            <a:off x="7269480" y="4343400"/>
            <a:ext cx="1664208" cy="731520"/>
          </a:xfrm>
          <a:prstGeom prst="roundRect">
            <a:avLst>
              <a:gd name="adj" fmla="val 15000"/>
            </a:avLst>
          </a:prstGeom>
          <a:solidFill>
            <a:srgbClr val="29B07E">
              <a:alpha val="96000"/>
            </a:srgbClr>
          </a:solidFill>
          <a:ln>
            <a:solidFill>
              <a:srgbClr val="29B07E">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Testing</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NDT, hydro, PMI, MTC</a:t>
            </a:r>
            <a:endParaRPr lang="en-US" sz="1100" dirty="0"/>
          </a:p>
        </p:txBody>
      </p:sp>
      <p:sp>
        <p:nvSpPr>
          <p:cNvPr id="12" name="Text 9"/>
          <p:cNvSpPr/>
          <p:nvPr/>
        </p:nvSpPr>
        <p:spPr>
          <a:xfrm>
            <a:off x="9052560" y="4572000"/>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13" name="Text 10"/>
          <p:cNvSpPr/>
          <p:nvPr/>
        </p:nvSpPr>
        <p:spPr>
          <a:xfrm>
            <a:off x="9509760" y="4343400"/>
            <a:ext cx="1783080" cy="731520"/>
          </a:xfrm>
          <a:prstGeom prst="roundRect">
            <a:avLst>
              <a:gd name="adj" fmla="val 15000"/>
            </a:avLst>
          </a:prstGeom>
          <a:solidFill>
            <a:srgbClr val="D4A441">
              <a:alpha val="96000"/>
            </a:srgbClr>
          </a:solidFill>
          <a:ln>
            <a:solidFill>
              <a:srgbClr val="D4A441">
                <a:alpha val="85000"/>
              </a:srgbClr>
            </a:solidFill>
          </a:ln>
        </p:spPr>
        <p:txBody>
          <a:bodyPr wrap="square" lIns="1016" tIns="1016" rIns="1016" bIns="1016" rtlCol="0" anchor="ctr"/>
          <a:lstStyle/>
          <a:p>
            <a:pPr marL="0" indent="0" algn="ctr">
              <a:buNone/>
            </a:pPr>
            <a:r>
              <a:rPr lang="en-US" sz="1100" dirty="0">
                <a:solidFill>
                  <a:srgbClr val="F7F4E8"/>
                </a:solidFill>
                <a:latin typeface="Aptos" pitchFamily="34" charset="0"/>
                <a:ea typeface="Aptos" pitchFamily="34" charset="-122"/>
                <a:cs typeface="Aptos" pitchFamily="34" charset="-120"/>
              </a:rPr>
              <a:t>Supply</a:t>
            </a:r>
            <a:endParaRPr lang="en-US" sz="1100" dirty="0"/>
          </a:p>
          <a:p>
            <a:pPr marL="0" indent="0" algn="ctr">
              <a:buNone/>
            </a:pPr>
            <a:r>
              <a:rPr lang="en-US" sz="1100" dirty="0">
                <a:solidFill>
                  <a:srgbClr val="F7F4E8"/>
                </a:solidFill>
                <a:latin typeface="Aptos" pitchFamily="34" charset="0"/>
                <a:ea typeface="Aptos" pitchFamily="34" charset="-122"/>
                <a:cs typeface="Aptos" pitchFamily="34" charset="-120"/>
              </a:rPr>
              <a:t>coating, docs, logistics</a:t>
            </a:r>
            <a:endParaRPr lang="en-US" sz="1100" dirty="0"/>
          </a:p>
        </p:txBody>
      </p:sp>
      <p:sp>
        <p:nvSpPr>
          <p:cNvPr id="14" name="Text 11"/>
          <p:cNvSpPr/>
          <p:nvPr/>
        </p:nvSpPr>
        <p:spPr>
          <a:xfrm>
            <a:off x="1170432" y="5486400"/>
            <a:ext cx="9829800" cy="484632"/>
          </a:xfrm>
          <a:prstGeom prst="roundRect">
            <a:avLst>
              <a:gd name="adj" fmla="val 22642"/>
            </a:avLst>
          </a:prstGeom>
          <a:solidFill>
            <a:srgbClr val="142035"/>
          </a:solidFill>
          <a:ln w="10160">
            <a:solidFill>
              <a:srgbClr val="2F3B52">
                <a:alpha val="85000"/>
              </a:srgbClr>
            </a:solidFill>
          </a:ln>
        </p:spPr>
        <p:txBody>
          <a:bodyPr wrap="square" lIns="1524" tIns="1524" rIns="1524" bIns="1524" rtlCol="0" anchor="ctr">
            <a:normAutofit/>
          </a:bodyPr>
          <a:lstStyle/>
          <a:p>
            <a:pPr marL="0" indent="0">
              <a:buNone/>
            </a:pPr>
            <a:r>
              <a:rPr lang="en-US" sz="1430" dirty="0">
                <a:solidFill>
                  <a:srgbClr val="F7F4E8"/>
                </a:solidFill>
                <a:latin typeface="Aptos" pitchFamily="34" charset="0"/>
                <a:ea typeface="Aptos" pitchFamily="34" charset="-122"/>
                <a:cs typeface="Aptos" pitchFamily="34" charset="-120"/>
              </a:rPr>
              <a:t>Finished pipe is an engineered, certified, inspected and deliverable product. Steel is only the starting material.</a:t>
            </a:r>
            <a:endParaRPr lang="en-US" sz="143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66928" y="274320"/>
            <a:ext cx="4389120" cy="228600"/>
          </a:xfrm>
          <a:prstGeom prst="rect">
            <a:avLst/>
          </a:prstGeom>
          <a:noFill/>
          <a:ln/>
        </p:spPr>
        <p:txBody>
          <a:bodyPr wrap="square" lIns="0" tIns="0" rIns="0" bIns="0" rtlCol="0" anchor="ctr"/>
          <a:lstStyle/>
          <a:p>
            <a:pPr marL="0" indent="0">
              <a:buNone/>
            </a:pPr>
            <a:r>
              <a:rPr lang="en-US" sz="900" b="1" dirty="0">
                <a:solidFill>
                  <a:srgbClr val="D4A441"/>
                </a:solidFill>
                <a:latin typeface="Aptos" pitchFamily="34" charset="0"/>
                <a:ea typeface="Aptos" pitchFamily="34" charset="-122"/>
                <a:cs typeface="Aptos" pitchFamily="34" charset="-120"/>
              </a:rPr>
              <a:t>HIDDEN COST DRIVERS</a:t>
            </a:r>
            <a:endParaRPr lang="en-US" sz="900" dirty="0"/>
          </a:p>
        </p:txBody>
      </p:sp>
      <p:sp>
        <p:nvSpPr>
          <p:cNvPr id="3" name="Text 1"/>
          <p:cNvSpPr/>
          <p:nvPr/>
        </p:nvSpPr>
        <p:spPr>
          <a:xfrm>
            <a:off x="548640" y="566928"/>
            <a:ext cx="10789920" cy="502920"/>
          </a:xfrm>
          <a:prstGeom prst="rect">
            <a:avLst/>
          </a:prstGeom>
          <a:noFill/>
          <a:ln/>
        </p:spPr>
        <p:txBody>
          <a:bodyPr wrap="square" lIns="0" tIns="0" rIns="0" bIns="0" rtlCol="0" anchor="ctr">
            <a:normAutofit/>
          </a:bodyPr>
          <a:lstStyle/>
          <a:p>
            <a:pPr marL="0" indent="0">
              <a:buNone/>
            </a:pPr>
            <a:r>
              <a:rPr lang="en-US" sz="2550" b="1" dirty="0">
                <a:solidFill>
                  <a:srgbClr val="F7F4E8"/>
                </a:solidFill>
                <a:latin typeface="Aptos Display" pitchFamily="34" charset="0"/>
                <a:ea typeface="Aptos Display" pitchFamily="34" charset="-122"/>
                <a:cs typeface="Aptos Display" pitchFamily="34" charset="-120"/>
              </a:rPr>
              <a:t>Why raw steel rate is a weak estimator for pipe price</a:t>
            </a:r>
            <a:endParaRPr lang="en-US" sz="2550" dirty="0"/>
          </a:p>
        </p:txBody>
      </p:sp>
      <p:sp>
        <p:nvSpPr>
          <p:cNvPr id="4" name="Text 2"/>
          <p:cNvSpPr/>
          <p:nvPr/>
        </p:nvSpPr>
        <p:spPr>
          <a:xfrm>
            <a:off x="804672" y="1389888"/>
            <a:ext cx="4846320" cy="822960"/>
          </a:xfrm>
          <a:prstGeom prst="roundRect">
            <a:avLst>
              <a:gd name="adj" fmla="val 13333"/>
            </a:avLst>
          </a:prstGeom>
          <a:solidFill>
            <a:srgbClr val="182235"/>
          </a:solidFill>
          <a:ln w="13970">
            <a:solidFill>
              <a:srgbClr val="D4A441">
                <a:alpha val="88000"/>
              </a:srgbClr>
            </a:solidFill>
          </a:ln>
        </p:spPr>
        <p:txBody>
          <a:bodyPr wrap="square" lIns="1143" tIns="1143" rIns="1143" bIns="1143" rtlCol="0" anchor="ctr">
            <a:normAutofit/>
          </a:bodyPr>
          <a:lstStyle/>
          <a:p>
            <a:pPr marL="0" indent="0">
              <a:buNone/>
            </a:pPr>
            <a:r>
              <a:rPr lang="en-US" sz="1320" dirty="0">
                <a:solidFill>
                  <a:srgbClr val="F7F4E8"/>
                </a:solidFill>
                <a:latin typeface="Aptos" pitchFamily="34" charset="0"/>
                <a:ea typeface="Aptos" pitchFamily="34" charset="-122"/>
                <a:cs typeface="Aptos" pitchFamily="34" charset="-120"/>
              </a:rPr>
              <a:t>Specification</a:t>
            </a:r>
            <a:endParaRPr lang="en-US" sz="1320" dirty="0"/>
          </a:p>
          <a:p>
            <a:pPr marL="0" indent="0">
              <a:buNone/>
            </a:pPr>
            <a:r>
              <a:rPr lang="en-US" sz="1320" dirty="0">
                <a:solidFill>
                  <a:srgbClr val="F7F4E8"/>
                </a:solidFill>
                <a:latin typeface="Aptos" pitchFamily="34" charset="0"/>
                <a:ea typeface="Aptos" pitchFamily="34" charset="-122"/>
                <a:cs typeface="Aptos" pitchFamily="34" charset="-120"/>
              </a:rPr>
              <a:t>grade, PSL, standard, service, traceability</a:t>
            </a:r>
            <a:endParaRPr lang="en-US" sz="1320" dirty="0"/>
          </a:p>
        </p:txBody>
      </p:sp>
      <p:sp>
        <p:nvSpPr>
          <p:cNvPr id="5" name="Text 3"/>
          <p:cNvSpPr/>
          <p:nvPr/>
        </p:nvSpPr>
        <p:spPr>
          <a:xfrm>
            <a:off x="6336792" y="1389888"/>
            <a:ext cx="4846320" cy="822960"/>
          </a:xfrm>
          <a:prstGeom prst="roundRect">
            <a:avLst>
              <a:gd name="adj" fmla="val 13333"/>
            </a:avLst>
          </a:prstGeom>
          <a:solidFill>
            <a:srgbClr val="182235"/>
          </a:solidFill>
          <a:ln w="13970">
            <a:solidFill>
              <a:srgbClr val="40C4FF">
                <a:alpha val="88000"/>
              </a:srgbClr>
            </a:solidFill>
          </a:ln>
        </p:spPr>
        <p:txBody>
          <a:bodyPr wrap="square" lIns="1143" tIns="1143" rIns="1143" bIns="1143" rtlCol="0" anchor="ctr">
            <a:normAutofit/>
          </a:bodyPr>
          <a:lstStyle/>
          <a:p>
            <a:pPr marL="0" indent="0">
              <a:buNone/>
            </a:pPr>
            <a:r>
              <a:rPr lang="en-US" sz="1320" dirty="0">
                <a:solidFill>
                  <a:srgbClr val="F7F4E8"/>
                </a:solidFill>
                <a:latin typeface="Aptos" pitchFamily="34" charset="0"/>
                <a:ea typeface="Aptos" pitchFamily="34" charset="-122"/>
                <a:cs typeface="Aptos" pitchFamily="34" charset="-120"/>
              </a:rPr>
              <a:t>Geometry</a:t>
            </a:r>
            <a:endParaRPr lang="en-US" sz="1320" dirty="0"/>
          </a:p>
          <a:p>
            <a:pPr marL="0" indent="0">
              <a:buNone/>
            </a:pPr>
            <a:r>
              <a:rPr lang="en-US" sz="1320" dirty="0">
                <a:solidFill>
                  <a:srgbClr val="F7F4E8"/>
                </a:solidFill>
                <a:latin typeface="Aptos" pitchFamily="34" charset="0"/>
                <a:ea typeface="Aptos" pitchFamily="34" charset="-122"/>
                <a:cs typeface="Aptos" pitchFamily="34" charset="-120"/>
              </a:rPr>
              <a:t>NPS, schedule, wall thickness, tolerances</a:t>
            </a:r>
            <a:endParaRPr lang="en-US" sz="1320" dirty="0"/>
          </a:p>
        </p:txBody>
      </p:sp>
      <p:sp>
        <p:nvSpPr>
          <p:cNvPr id="6" name="Text 4"/>
          <p:cNvSpPr/>
          <p:nvPr/>
        </p:nvSpPr>
        <p:spPr>
          <a:xfrm>
            <a:off x="804672" y="2706624"/>
            <a:ext cx="4846320" cy="822960"/>
          </a:xfrm>
          <a:prstGeom prst="roundRect">
            <a:avLst>
              <a:gd name="adj" fmla="val 13333"/>
            </a:avLst>
          </a:prstGeom>
          <a:solidFill>
            <a:srgbClr val="182235"/>
          </a:solidFill>
          <a:ln w="13970">
            <a:solidFill>
              <a:srgbClr val="29B07E">
                <a:alpha val="88000"/>
              </a:srgbClr>
            </a:solidFill>
          </a:ln>
        </p:spPr>
        <p:txBody>
          <a:bodyPr wrap="square" lIns="1143" tIns="1143" rIns="1143" bIns="1143" rtlCol="0" anchor="ctr">
            <a:normAutofit/>
          </a:bodyPr>
          <a:lstStyle/>
          <a:p>
            <a:pPr marL="0" indent="0">
              <a:buNone/>
            </a:pPr>
            <a:r>
              <a:rPr lang="en-US" sz="1320" dirty="0">
                <a:solidFill>
                  <a:srgbClr val="F7F4E8"/>
                </a:solidFill>
                <a:latin typeface="Aptos" pitchFamily="34" charset="0"/>
                <a:ea typeface="Aptos" pitchFamily="34" charset="-122"/>
                <a:cs typeface="Aptos" pitchFamily="34" charset="-120"/>
              </a:rPr>
              <a:t>Manufacturing route</a:t>
            </a:r>
            <a:endParaRPr lang="en-US" sz="1320" dirty="0"/>
          </a:p>
          <a:p>
            <a:pPr marL="0" indent="0">
              <a:buNone/>
            </a:pPr>
            <a:r>
              <a:rPr lang="en-US" sz="1320" dirty="0">
                <a:solidFill>
                  <a:srgbClr val="F7F4E8"/>
                </a:solidFill>
                <a:latin typeface="Aptos" pitchFamily="34" charset="0"/>
                <a:ea typeface="Aptos" pitchFamily="34" charset="-122"/>
                <a:cs typeface="Aptos" pitchFamily="34" charset="-120"/>
              </a:rPr>
              <a:t>seamless, ERW, HFW, SAW, forging</a:t>
            </a:r>
            <a:endParaRPr lang="en-US" sz="1320" dirty="0"/>
          </a:p>
        </p:txBody>
      </p:sp>
      <p:sp>
        <p:nvSpPr>
          <p:cNvPr id="7" name="Text 5"/>
          <p:cNvSpPr/>
          <p:nvPr/>
        </p:nvSpPr>
        <p:spPr>
          <a:xfrm>
            <a:off x="6336792" y="2706624"/>
            <a:ext cx="4846320" cy="822960"/>
          </a:xfrm>
          <a:prstGeom prst="roundRect">
            <a:avLst>
              <a:gd name="adj" fmla="val 13333"/>
            </a:avLst>
          </a:prstGeom>
          <a:solidFill>
            <a:srgbClr val="182235"/>
          </a:solidFill>
          <a:ln w="13970">
            <a:solidFill>
              <a:srgbClr val="F59E0B">
                <a:alpha val="88000"/>
              </a:srgbClr>
            </a:solidFill>
          </a:ln>
        </p:spPr>
        <p:txBody>
          <a:bodyPr wrap="square" lIns="1143" tIns="1143" rIns="1143" bIns="1143" rtlCol="0" anchor="ctr">
            <a:normAutofit/>
          </a:bodyPr>
          <a:lstStyle/>
          <a:p>
            <a:pPr marL="0" indent="0">
              <a:buNone/>
            </a:pPr>
            <a:r>
              <a:rPr lang="en-US" sz="1320" dirty="0">
                <a:solidFill>
                  <a:srgbClr val="F7F4E8"/>
                </a:solidFill>
                <a:latin typeface="Aptos" pitchFamily="34" charset="0"/>
                <a:ea typeface="Aptos" pitchFamily="34" charset="-122"/>
                <a:cs typeface="Aptos" pitchFamily="34" charset="-120"/>
              </a:rPr>
              <a:t>Quality assurance</a:t>
            </a:r>
            <a:endParaRPr lang="en-US" sz="1320" dirty="0"/>
          </a:p>
          <a:p>
            <a:pPr marL="0" indent="0">
              <a:buNone/>
            </a:pPr>
            <a:r>
              <a:rPr lang="en-US" sz="1320" dirty="0">
                <a:solidFill>
                  <a:srgbClr val="F7F4E8"/>
                </a:solidFill>
                <a:latin typeface="Aptos" pitchFamily="34" charset="0"/>
                <a:ea typeface="Aptos" pitchFamily="34" charset="-122"/>
                <a:cs typeface="Aptos" pitchFamily="34" charset="-120"/>
              </a:rPr>
              <a:t>NDT, hydrotest, PMI, MTC, ITP, TPI</a:t>
            </a:r>
            <a:endParaRPr lang="en-US" sz="1320" dirty="0"/>
          </a:p>
        </p:txBody>
      </p:sp>
      <p:sp>
        <p:nvSpPr>
          <p:cNvPr id="8" name="Text 6"/>
          <p:cNvSpPr/>
          <p:nvPr/>
        </p:nvSpPr>
        <p:spPr>
          <a:xfrm>
            <a:off x="804672" y="4023360"/>
            <a:ext cx="4846320" cy="822960"/>
          </a:xfrm>
          <a:prstGeom prst="roundRect">
            <a:avLst>
              <a:gd name="adj" fmla="val 13333"/>
            </a:avLst>
          </a:prstGeom>
          <a:solidFill>
            <a:srgbClr val="182235"/>
          </a:solidFill>
          <a:ln w="13970">
            <a:solidFill>
              <a:srgbClr val="6D7D90">
                <a:alpha val="88000"/>
              </a:srgbClr>
            </a:solidFill>
          </a:ln>
        </p:spPr>
        <p:txBody>
          <a:bodyPr wrap="square" lIns="1143" tIns="1143" rIns="1143" bIns="1143" rtlCol="0" anchor="ctr">
            <a:normAutofit/>
          </a:bodyPr>
          <a:lstStyle/>
          <a:p>
            <a:pPr marL="0" indent="0">
              <a:buNone/>
            </a:pPr>
            <a:r>
              <a:rPr lang="en-US" sz="1320" dirty="0">
                <a:solidFill>
                  <a:srgbClr val="F7F4E8"/>
                </a:solidFill>
                <a:latin typeface="Aptos" pitchFamily="34" charset="0"/>
                <a:ea typeface="Aptos" pitchFamily="34" charset="-122"/>
                <a:cs typeface="Aptos" pitchFamily="34" charset="-120"/>
              </a:rPr>
              <a:t>Surface protection</a:t>
            </a:r>
            <a:endParaRPr lang="en-US" sz="1320" dirty="0"/>
          </a:p>
          <a:p>
            <a:pPr marL="0" indent="0">
              <a:buNone/>
            </a:pPr>
            <a:r>
              <a:rPr lang="en-US" sz="1320" dirty="0">
                <a:solidFill>
                  <a:srgbClr val="F7F4E8"/>
                </a:solidFill>
                <a:latin typeface="Aptos" pitchFamily="34" charset="0"/>
                <a:ea typeface="Aptos" pitchFamily="34" charset="-122"/>
                <a:cs typeface="Aptos" pitchFamily="34" charset="-120"/>
              </a:rPr>
              <a:t>coating, painting, end preparation</a:t>
            </a:r>
            <a:endParaRPr lang="en-US" sz="1320" dirty="0"/>
          </a:p>
        </p:txBody>
      </p:sp>
      <p:sp>
        <p:nvSpPr>
          <p:cNvPr id="9" name="Text 7"/>
          <p:cNvSpPr/>
          <p:nvPr/>
        </p:nvSpPr>
        <p:spPr>
          <a:xfrm>
            <a:off x="6336792" y="4023360"/>
            <a:ext cx="4846320" cy="822960"/>
          </a:xfrm>
          <a:prstGeom prst="roundRect">
            <a:avLst>
              <a:gd name="adj" fmla="val 13333"/>
            </a:avLst>
          </a:prstGeom>
          <a:solidFill>
            <a:srgbClr val="182235"/>
          </a:solidFill>
          <a:ln w="13970">
            <a:solidFill>
              <a:srgbClr val="EF5350">
                <a:alpha val="88000"/>
              </a:srgbClr>
            </a:solidFill>
          </a:ln>
        </p:spPr>
        <p:txBody>
          <a:bodyPr wrap="square" lIns="1143" tIns="1143" rIns="1143" bIns="1143" rtlCol="0" anchor="ctr">
            <a:normAutofit/>
          </a:bodyPr>
          <a:lstStyle/>
          <a:p>
            <a:pPr marL="0" indent="0">
              <a:buNone/>
            </a:pPr>
            <a:r>
              <a:rPr lang="en-US" sz="1320" dirty="0">
                <a:solidFill>
                  <a:srgbClr val="F7F4E8"/>
                </a:solidFill>
                <a:latin typeface="Aptos" pitchFamily="34" charset="0"/>
                <a:ea typeface="Aptos" pitchFamily="34" charset="-122"/>
                <a:cs typeface="Aptos" pitchFamily="34" charset="-120"/>
              </a:rPr>
              <a:t>Market &amp; supply chain</a:t>
            </a:r>
            <a:endParaRPr lang="en-US" sz="1320" dirty="0"/>
          </a:p>
          <a:p>
            <a:pPr marL="0" indent="0">
              <a:buNone/>
            </a:pPr>
            <a:r>
              <a:rPr lang="en-US" sz="1320" dirty="0">
                <a:solidFill>
                  <a:srgbClr val="F7F4E8"/>
                </a:solidFill>
                <a:latin typeface="Aptos" pitchFamily="34" charset="0"/>
                <a:ea typeface="Aptos" pitchFamily="34" charset="-122"/>
                <a:cs typeface="Aptos" pitchFamily="34" charset="-120"/>
              </a:rPr>
              <a:t>MOQ, lead time, inventory, freight, margin</a:t>
            </a:r>
            <a:endParaRPr lang="en-US" sz="1320" dirty="0"/>
          </a:p>
        </p:txBody>
      </p:sp>
      <p:sp>
        <p:nvSpPr>
          <p:cNvPr id="10" name="Text 8"/>
          <p:cNvSpPr/>
          <p:nvPr/>
        </p:nvSpPr>
        <p:spPr>
          <a:xfrm>
            <a:off x="1078992" y="5513832"/>
            <a:ext cx="10058400" cy="493776"/>
          </a:xfrm>
          <a:prstGeom prst="roundRect">
            <a:avLst>
              <a:gd name="adj" fmla="val 22222"/>
            </a:avLst>
          </a:prstGeom>
          <a:solidFill>
            <a:srgbClr val="142035"/>
          </a:solidFill>
          <a:ln w="10160">
            <a:solidFill>
              <a:srgbClr val="2F3B52">
                <a:alpha val="85000"/>
              </a:srgbClr>
            </a:solidFill>
          </a:ln>
        </p:spPr>
        <p:txBody>
          <a:bodyPr wrap="square" lIns="1524" tIns="1524" rIns="1524" bIns="1524" rtlCol="0" anchor="ctr">
            <a:normAutofit/>
          </a:bodyPr>
          <a:lstStyle/>
          <a:p>
            <a:pPr marL="0" indent="0">
              <a:buNone/>
            </a:pPr>
            <a:r>
              <a:rPr lang="en-US" sz="1420" dirty="0">
                <a:solidFill>
                  <a:srgbClr val="F7F4E8"/>
                </a:solidFill>
                <a:latin typeface="Aptos" pitchFamily="34" charset="0"/>
                <a:ea typeface="Aptos" pitchFamily="34" charset="-122"/>
                <a:cs typeface="Aptos" pitchFamily="34" charset="-120"/>
              </a:rPr>
              <a:t>Engineering blind spot: a pipe is not priced by metal weight alone. The specification decides the conversion premium and risk premium.</a:t>
            </a:r>
            <a:endParaRPr lang="en-US" sz="142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66928" y="274320"/>
            <a:ext cx="4389120" cy="228600"/>
          </a:xfrm>
          <a:prstGeom prst="rect">
            <a:avLst/>
          </a:prstGeom>
          <a:noFill/>
          <a:ln/>
        </p:spPr>
        <p:txBody>
          <a:bodyPr wrap="square" lIns="0" tIns="0" rIns="0" bIns="0" rtlCol="0" anchor="ctr"/>
          <a:lstStyle/>
          <a:p>
            <a:pPr marL="0" indent="0">
              <a:buNone/>
            </a:pPr>
            <a:r>
              <a:rPr lang="en-US" sz="900" b="1" dirty="0">
                <a:solidFill>
                  <a:srgbClr val="D4A441"/>
                </a:solidFill>
                <a:latin typeface="Aptos" pitchFamily="34" charset="0"/>
                <a:ea typeface="Aptos" pitchFamily="34" charset="-122"/>
                <a:cs typeface="Aptos" pitchFamily="34" charset="-120"/>
              </a:rPr>
              <a:t>PIPE PRICE LOGIC</a:t>
            </a:r>
            <a:endParaRPr lang="en-US" sz="900" dirty="0"/>
          </a:p>
        </p:txBody>
      </p:sp>
      <p:sp>
        <p:nvSpPr>
          <p:cNvPr id="3" name="Text 1"/>
          <p:cNvSpPr/>
          <p:nvPr/>
        </p:nvSpPr>
        <p:spPr>
          <a:xfrm>
            <a:off x="548640" y="566928"/>
            <a:ext cx="10789920" cy="502920"/>
          </a:xfrm>
          <a:prstGeom prst="rect">
            <a:avLst/>
          </a:prstGeom>
          <a:noFill/>
          <a:ln/>
        </p:spPr>
        <p:txBody>
          <a:bodyPr wrap="square" lIns="0" tIns="0" rIns="0" bIns="0" rtlCol="0" anchor="ctr">
            <a:normAutofit/>
          </a:bodyPr>
          <a:lstStyle/>
          <a:p>
            <a:pPr marL="0" indent="0">
              <a:buNone/>
            </a:pPr>
            <a:r>
              <a:rPr lang="en-US" sz="2550" b="1" dirty="0">
                <a:solidFill>
                  <a:srgbClr val="F7F4E8"/>
                </a:solidFill>
                <a:latin typeface="Aptos Display" pitchFamily="34" charset="0"/>
                <a:ea typeface="Aptos Display" pitchFamily="34" charset="-122"/>
                <a:cs typeface="Aptos Display" pitchFamily="34" charset="-120"/>
              </a:rPr>
              <a:t>A practical value bridge for finished pipe</a:t>
            </a:r>
            <a:endParaRPr lang="en-US" sz="2550" dirty="0"/>
          </a:p>
        </p:txBody>
      </p:sp>
      <p:sp>
        <p:nvSpPr>
          <p:cNvPr id="4" name="Text 2"/>
          <p:cNvSpPr/>
          <p:nvPr/>
        </p:nvSpPr>
        <p:spPr>
          <a:xfrm>
            <a:off x="822960" y="1325880"/>
            <a:ext cx="2743200" cy="384048"/>
          </a:xfrm>
          <a:prstGeom prst="rect">
            <a:avLst/>
          </a:prstGeom>
          <a:noFill/>
          <a:ln/>
        </p:spPr>
        <p:txBody>
          <a:bodyPr wrap="square" lIns="0" tIns="0" rIns="0" bIns="0" rtlCol="0" anchor="ctr"/>
          <a:lstStyle/>
          <a:p>
            <a:pPr marL="0" indent="0">
              <a:buNone/>
            </a:pPr>
            <a:r>
              <a:rPr lang="en-US" sz="2000" b="1" dirty="0">
                <a:solidFill>
                  <a:srgbClr val="F7F4E8"/>
                </a:solidFill>
                <a:latin typeface="Aptos Display" pitchFamily="34" charset="0"/>
                <a:ea typeface="Aptos Display" pitchFamily="34" charset="-122"/>
                <a:cs typeface="Aptos Display" pitchFamily="34" charset="-120"/>
              </a:rPr>
              <a:t>Finished pipe price =</a:t>
            </a:r>
            <a:endParaRPr lang="en-US" sz="2000" dirty="0"/>
          </a:p>
        </p:txBody>
      </p:sp>
      <p:sp>
        <p:nvSpPr>
          <p:cNvPr id="5" name="Text 3"/>
          <p:cNvSpPr/>
          <p:nvPr/>
        </p:nvSpPr>
        <p:spPr>
          <a:xfrm>
            <a:off x="777240" y="2057400"/>
            <a:ext cx="1783080" cy="960120"/>
          </a:xfrm>
          <a:prstGeom prst="roundRect">
            <a:avLst>
              <a:gd name="adj" fmla="val 13333"/>
            </a:avLst>
          </a:prstGeom>
          <a:solidFill>
            <a:srgbClr val="6D7D90">
              <a:alpha val="94000"/>
            </a:srgbClr>
          </a:solidFill>
          <a:ln>
            <a:solidFill>
              <a:srgbClr val="6D7D90"/>
            </a:solidFill>
          </a:ln>
        </p:spPr>
        <p:txBody>
          <a:bodyPr wrap="square" lIns="889" tIns="889" rIns="889" bIns="889" rtlCol="0" anchor="ctr">
            <a:normAutofit/>
          </a:bodyPr>
          <a:lstStyle/>
          <a:p>
            <a:pPr marL="0" indent="0" algn="ctr">
              <a:buNone/>
            </a:pPr>
            <a:r>
              <a:rPr lang="en-US" sz="1150" b="1" dirty="0">
                <a:solidFill>
                  <a:srgbClr val="F7F4E8"/>
                </a:solidFill>
                <a:latin typeface="Aptos" pitchFamily="34" charset="0"/>
                <a:ea typeface="Aptos" pitchFamily="34" charset="-122"/>
                <a:cs typeface="Aptos" pitchFamily="34" charset="-120"/>
              </a:rPr>
              <a:t>Raw steel cost</a:t>
            </a:r>
            <a:endParaRPr lang="en-US" sz="1150" dirty="0"/>
          </a:p>
          <a:p>
            <a:pPr marL="0" indent="0" algn="ctr">
              <a:buNone/>
            </a:pPr>
            <a:r>
              <a:rPr lang="en-US" sz="1150" b="1" dirty="0">
                <a:solidFill>
                  <a:srgbClr val="F7F4E8"/>
                </a:solidFill>
                <a:latin typeface="Aptos" pitchFamily="34" charset="0"/>
                <a:ea typeface="Aptos" pitchFamily="34" charset="-122"/>
                <a:cs typeface="Aptos" pitchFamily="34" charset="-120"/>
              </a:rPr>
              <a:t>adjusted for yield</a:t>
            </a:r>
            <a:endParaRPr lang="en-US" sz="1150" dirty="0"/>
          </a:p>
        </p:txBody>
      </p:sp>
      <p:sp>
        <p:nvSpPr>
          <p:cNvPr id="6" name="Text 4"/>
          <p:cNvSpPr/>
          <p:nvPr/>
        </p:nvSpPr>
        <p:spPr>
          <a:xfrm>
            <a:off x="2633472" y="2359152"/>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7" name="Text 5"/>
          <p:cNvSpPr/>
          <p:nvPr/>
        </p:nvSpPr>
        <p:spPr>
          <a:xfrm>
            <a:off x="3017520" y="2057400"/>
            <a:ext cx="1783080" cy="960120"/>
          </a:xfrm>
          <a:prstGeom prst="roundRect">
            <a:avLst>
              <a:gd name="adj" fmla="val 13333"/>
            </a:avLst>
          </a:prstGeom>
          <a:solidFill>
            <a:srgbClr val="40C4FF">
              <a:alpha val="94000"/>
            </a:srgbClr>
          </a:solidFill>
          <a:ln>
            <a:solidFill>
              <a:srgbClr val="40C4FF"/>
            </a:solidFill>
          </a:ln>
        </p:spPr>
        <p:txBody>
          <a:bodyPr wrap="square" lIns="889" tIns="889" rIns="889" bIns="889" rtlCol="0" anchor="ctr">
            <a:normAutofit/>
          </a:bodyPr>
          <a:lstStyle/>
          <a:p>
            <a:pPr marL="0" indent="0" algn="ctr">
              <a:buNone/>
            </a:pPr>
            <a:r>
              <a:rPr lang="en-US" sz="1150" b="1" dirty="0">
                <a:solidFill>
                  <a:srgbClr val="F7F4E8"/>
                </a:solidFill>
                <a:latin typeface="Aptos" pitchFamily="34" charset="0"/>
                <a:ea typeface="Aptos" pitchFamily="34" charset="-122"/>
                <a:cs typeface="Aptos" pitchFamily="34" charset="-120"/>
              </a:rPr>
              <a:t>Conversion route</a:t>
            </a:r>
            <a:endParaRPr lang="en-US" sz="1150" dirty="0"/>
          </a:p>
          <a:p>
            <a:pPr marL="0" indent="0" algn="ctr">
              <a:buNone/>
            </a:pPr>
            <a:r>
              <a:rPr lang="en-US" sz="1150" b="1" dirty="0">
                <a:solidFill>
                  <a:srgbClr val="F7F4E8"/>
                </a:solidFill>
                <a:latin typeface="Aptos" pitchFamily="34" charset="0"/>
                <a:ea typeface="Aptos" pitchFamily="34" charset="-122"/>
                <a:cs typeface="Aptos" pitchFamily="34" charset="-120"/>
              </a:rPr>
              <a:t>forming + welding</a:t>
            </a:r>
            <a:endParaRPr lang="en-US" sz="1150" dirty="0"/>
          </a:p>
        </p:txBody>
      </p:sp>
      <p:sp>
        <p:nvSpPr>
          <p:cNvPr id="8" name="Text 6"/>
          <p:cNvSpPr/>
          <p:nvPr/>
        </p:nvSpPr>
        <p:spPr>
          <a:xfrm>
            <a:off x="4873752" y="2359152"/>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9" name="Text 7"/>
          <p:cNvSpPr/>
          <p:nvPr/>
        </p:nvSpPr>
        <p:spPr>
          <a:xfrm>
            <a:off x="5257800" y="2057400"/>
            <a:ext cx="1783080" cy="960120"/>
          </a:xfrm>
          <a:prstGeom prst="roundRect">
            <a:avLst>
              <a:gd name="adj" fmla="val 13333"/>
            </a:avLst>
          </a:prstGeom>
          <a:solidFill>
            <a:srgbClr val="F59E0B">
              <a:alpha val="94000"/>
            </a:srgbClr>
          </a:solidFill>
          <a:ln>
            <a:solidFill>
              <a:srgbClr val="F59E0B"/>
            </a:solidFill>
          </a:ln>
        </p:spPr>
        <p:txBody>
          <a:bodyPr wrap="square" lIns="889" tIns="889" rIns="889" bIns="889" rtlCol="0" anchor="ctr">
            <a:normAutofit/>
          </a:bodyPr>
          <a:lstStyle/>
          <a:p>
            <a:pPr marL="0" indent="0" algn="ctr">
              <a:buNone/>
            </a:pPr>
            <a:r>
              <a:rPr lang="en-US" sz="1150" b="1" dirty="0">
                <a:solidFill>
                  <a:srgbClr val="F7F4E8"/>
                </a:solidFill>
                <a:latin typeface="Aptos" pitchFamily="34" charset="0"/>
                <a:ea typeface="Aptos" pitchFamily="34" charset="-122"/>
                <a:cs typeface="Aptos" pitchFamily="34" charset="-120"/>
              </a:rPr>
              <a:t>Heat treatment</a:t>
            </a:r>
            <a:endParaRPr lang="en-US" sz="1150" dirty="0"/>
          </a:p>
          <a:p>
            <a:pPr marL="0" indent="0" algn="ctr">
              <a:buNone/>
            </a:pPr>
            <a:r>
              <a:rPr lang="en-US" sz="1150" b="1" dirty="0">
                <a:solidFill>
                  <a:srgbClr val="F7F4E8"/>
                </a:solidFill>
                <a:latin typeface="Aptos" pitchFamily="34" charset="0"/>
                <a:ea typeface="Aptos" pitchFamily="34" charset="-122"/>
                <a:cs typeface="Aptos" pitchFamily="34" charset="-120"/>
              </a:rPr>
              <a:t>properties + tolerances</a:t>
            </a:r>
            <a:endParaRPr lang="en-US" sz="1150" dirty="0"/>
          </a:p>
        </p:txBody>
      </p:sp>
      <p:sp>
        <p:nvSpPr>
          <p:cNvPr id="10" name="Text 8"/>
          <p:cNvSpPr/>
          <p:nvPr/>
        </p:nvSpPr>
        <p:spPr>
          <a:xfrm>
            <a:off x="7114032" y="2359152"/>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11" name="Text 9"/>
          <p:cNvSpPr/>
          <p:nvPr/>
        </p:nvSpPr>
        <p:spPr>
          <a:xfrm>
            <a:off x="7498080" y="2057400"/>
            <a:ext cx="1783080" cy="960120"/>
          </a:xfrm>
          <a:prstGeom prst="roundRect">
            <a:avLst>
              <a:gd name="adj" fmla="val 13333"/>
            </a:avLst>
          </a:prstGeom>
          <a:solidFill>
            <a:srgbClr val="29B07E">
              <a:alpha val="94000"/>
            </a:srgbClr>
          </a:solidFill>
          <a:ln>
            <a:solidFill>
              <a:srgbClr val="29B07E"/>
            </a:solidFill>
          </a:ln>
        </p:spPr>
        <p:txBody>
          <a:bodyPr wrap="square" lIns="889" tIns="889" rIns="889" bIns="889" rtlCol="0" anchor="ctr">
            <a:normAutofit/>
          </a:bodyPr>
          <a:lstStyle/>
          <a:p>
            <a:pPr marL="0" indent="0" algn="ctr">
              <a:buNone/>
            </a:pPr>
            <a:r>
              <a:rPr lang="en-US" sz="1150" b="1" dirty="0">
                <a:solidFill>
                  <a:srgbClr val="F7F4E8"/>
                </a:solidFill>
                <a:latin typeface="Aptos" pitchFamily="34" charset="0"/>
                <a:ea typeface="Aptos" pitchFamily="34" charset="-122"/>
                <a:cs typeface="Aptos" pitchFamily="34" charset="-120"/>
              </a:rPr>
              <a:t>Inspection package</a:t>
            </a:r>
            <a:endParaRPr lang="en-US" sz="1150" dirty="0"/>
          </a:p>
          <a:p>
            <a:pPr marL="0" indent="0" algn="ctr">
              <a:buNone/>
            </a:pPr>
            <a:r>
              <a:rPr lang="en-US" sz="1150" b="1" dirty="0">
                <a:solidFill>
                  <a:srgbClr val="F7F4E8"/>
                </a:solidFill>
                <a:latin typeface="Aptos" pitchFamily="34" charset="0"/>
                <a:ea typeface="Aptos" pitchFamily="34" charset="-122"/>
                <a:cs typeface="Aptos" pitchFamily="34" charset="-120"/>
              </a:rPr>
              <a:t>NDT + hydro + MTC</a:t>
            </a:r>
            <a:endParaRPr lang="en-US" sz="1150" dirty="0"/>
          </a:p>
        </p:txBody>
      </p:sp>
      <p:sp>
        <p:nvSpPr>
          <p:cNvPr id="12" name="Text 10"/>
          <p:cNvSpPr/>
          <p:nvPr/>
        </p:nvSpPr>
        <p:spPr>
          <a:xfrm>
            <a:off x="9354312" y="2359152"/>
            <a:ext cx="301752" cy="292608"/>
          </a:xfrm>
          <a:prstGeom prst="rect">
            <a:avLst/>
          </a:prstGeom>
          <a:noFill/>
          <a:ln/>
        </p:spPr>
        <p:txBody>
          <a:bodyPr wrap="square" lIns="0" tIns="0" rIns="0" bIns="0" rtlCol="0" anchor="ctr"/>
          <a:lstStyle/>
          <a:p>
            <a:pPr marL="0" indent="0" algn="ctr">
              <a:buNone/>
            </a:pPr>
            <a:r>
              <a:rPr lang="en-US" sz="1800" b="1" dirty="0">
                <a:solidFill>
                  <a:srgbClr val="D4A441"/>
                </a:solidFill>
                <a:latin typeface="Aptos Display" pitchFamily="34" charset="0"/>
                <a:ea typeface="Aptos Display" pitchFamily="34" charset="-122"/>
                <a:cs typeface="Aptos Display" pitchFamily="34" charset="-120"/>
              </a:rPr>
              <a:t>+</a:t>
            </a:r>
            <a:endParaRPr lang="en-US" sz="1800" dirty="0"/>
          </a:p>
        </p:txBody>
      </p:sp>
      <p:sp>
        <p:nvSpPr>
          <p:cNvPr id="13" name="Text 11"/>
          <p:cNvSpPr/>
          <p:nvPr/>
        </p:nvSpPr>
        <p:spPr>
          <a:xfrm>
            <a:off x="9738360" y="2057400"/>
            <a:ext cx="1783080" cy="960120"/>
          </a:xfrm>
          <a:prstGeom prst="roundRect">
            <a:avLst>
              <a:gd name="adj" fmla="val 13333"/>
            </a:avLst>
          </a:prstGeom>
          <a:solidFill>
            <a:srgbClr val="D4A441">
              <a:alpha val="94000"/>
            </a:srgbClr>
          </a:solidFill>
          <a:ln>
            <a:solidFill>
              <a:srgbClr val="D4A441"/>
            </a:solidFill>
          </a:ln>
        </p:spPr>
        <p:txBody>
          <a:bodyPr wrap="square" lIns="889" tIns="889" rIns="889" bIns="889" rtlCol="0" anchor="ctr">
            <a:normAutofit/>
          </a:bodyPr>
          <a:lstStyle/>
          <a:p>
            <a:pPr marL="0" indent="0" algn="ctr">
              <a:buNone/>
            </a:pPr>
            <a:r>
              <a:rPr lang="en-US" sz="1150" b="1" dirty="0">
                <a:solidFill>
                  <a:srgbClr val="F7F4E8"/>
                </a:solidFill>
                <a:latin typeface="Aptos" pitchFamily="34" charset="0"/>
                <a:ea typeface="Aptos" pitchFamily="34" charset="-122"/>
                <a:cs typeface="Aptos" pitchFamily="34" charset="-120"/>
              </a:rPr>
              <a:t>Commercial load</a:t>
            </a:r>
            <a:endParaRPr lang="en-US" sz="1150" dirty="0"/>
          </a:p>
          <a:p>
            <a:pPr marL="0" indent="0" algn="ctr">
              <a:buNone/>
            </a:pPr>
            <a:r>
              <a:rPr lang="en-US" sz="1150" b="1" dirty="0">
                <a:solidFill>
                  <a:srgbClr val="F7F4E8"/>
                </a:solidFill>
                <a:latin typeface="Aptos" pitchFamily="34" charset="0"/>
                <a:ea typeface="Aptos" pitchFamily="34" charset="-122"/>
                <a:cs typeface="Aptos" pitchFamily="34" charset="-120"/>
              </a:rPr>
              <a:t>freight + working capital + margin</a:t>
            </a:r>
            <a:endParaRPr lang="en-US" sz="1150" dirty="0"/>
          </a:p>
        </p:txBody>
      </p:sp>
      <p:sp>
        <p:nvSpPr>
          <p:cNvPr id="14" name="Text 12"/>
          <p:cNvSpPr/>
          <p:nvPr/>
        </p:nvSpPr>
        <p:spPr>
          <a:xfrm>
            <a:off x="914400" y="3913632"/>
            <a:ext cx="2377440" cy="411480"/>
          </a:xfrm>
          <a:prstGeom prst="rect">
            <a:avLst/>
          </a:prstGeom>
          <a:noFill/>
          <a:ln/>
        </p:spPr>
        <p:txBody>
          <a:bodyPr wrap="square" lIns="0" tIns="0" rIns="0" bIns="0" rtlCol="0" anchor="ctr">
            <a:normAutofit/>
          </a:bodyPr>
          <a:lstStyle/>
          <a:p>
            <a:pPr marL="0" indent="0" algn="ctr">
              <a:buNone/>
            </a:pPr>
            <a:r>
              <a:rPr lang="en-US" sz="2400" b="1" dirty="0">
                <a:solidFill>
                  <a:srgbClr val="EF5350"/>
                </a:solidFill>
                <a:latin typeface="Aptos Display" pitchFamily="34" charset="0"/>
                <a:ea typeface="Aptos Display" pitchFamily="34" charset="-122"/>
                <a:cs typeface="Aptos Display" pitchFamily="34" charset="-120"/>
              </a:rPr>
              <a:t>kg × steel rate</a:t>
            </a:r>
            <a:endParaRPr lang="en-US" sz="2400" dirty="0"/>
          </a:p>
        </p:txBody>
      </p:sp>
      <p:sp>
        <p:nvSpPr>
          <p:cNvPr id="15" name="Text 13"/>
          <p:cNvSpPr/>
          <p:nvPr/>
        </p:nvSpPr>
        <p:spPr>
          <a:xfrm>
            <a:off x="914400" y="4352544"/>
            <a:ext cx="2377440" cy="347472"/>
          </a:xfrm>
          <a:prstGeom prst="rect">
            <a:avLst/>
          </a:prstGeom>
          <a:noFill/>
          <a:ln/>
        </p:spPr>
        <p:txBody>
          <a:bodyPr wrap="square" lIns="0" tIns="0" rIns="0" bIns="0" rtlCol="0" anchor="ctr">
            <a:normAutofit/>
          </a:bodyPr>
          <a:lstStyle/>
          <a:p>
            <a:pPr marL="0" indent="0" algn="ctr">
              <a:buNone/>
            </a:pPr>
            <a:r>
              <a:rPr lang="en-US" sz="950" dirty="0">
                <a:solidFill>
                  <a:srgbClr val="A8B3C7"/>
                </a:solidFill>
                <a:latin typeface="Aptos" pitchFamily="34" charset="0"/>
                <a:ea typeface="Aptos" pitchFamily="34" charset="-122"/>
                <a:cs typeface="Aptos" pitchFamily="34" charset="-120"/>
              </a:rPr>
              <a:t>bad estimate</a:t>
            </a:r>
            <a:endParaRPr lang="en-US" sz="950" dirty="0"/>
          </a:p>
        </p:txBody>
      </p:sp>
      <p:sp>
        <p:nvSpPr>
          <p:cNvPr id="16" name="Text 14"/>
          <p:cNvSpPr/>
          <p:nvPr/>
        </p:nvSpPr>
        <p:spPr>
          <a:xfrm>
            <a:off x="3822192" y="3913632"/>
            <a:ext cx="3474720" cy="411480"/>
          </a:xfrm>
          <a:prstGeom prst="rect">
            <a:avLst/>
          </a:prstGeom>
          <a:noFill/>
          <a:ln/>
        </p:spPr>
        <p:txBody>
          <a:bodyPr wrap="square" lIns="0" tIns="0" rIns="0" bIns="0" rtlCol="0" anchor="ctr">
            <a:normAutofit/>
          </a:bodyPr>
          <a:lstStyle/>
          <a:p>
            <a:pPr marL="0" indent="0" algn="ctr">
              <a:buNone/>
            </a:pPr>
            <a:r>
              <a:rPr lang="en-US" sz="2400" b="1" dirty="0">
                <a:solidFill>
                  <a:srgbClr val="D4A441"/>
                </a:solidFill>
                <a:latin typeface="Aptos Display" pitchFamily="34" charset="0"/>
                <a:ea typeface="Aptos Display" pitchFamily="34" charset="-122"/>
                <a:cs typeface="Aptos Display" pitchFamily="34" charset="-120"/>
              </a:rPr>
              <a:t>kg × steel rate + premium model</a:t>
            </a:r>
            <a:endParaRPr lang="en-US" sz="2400" dirty="0"/>
          </a:p>
        </p:txBody>
      </p:sp>
      <p:sp>
        <p:nvSpPr>
          <p:cNvPr id="17" name="Text 15"/>
          <p:cNvSpPr/>
          <p:nvPr/>
        </p:nvSpPr>
        <p:spPr>
          <a:xfrm>
            <a:off x="3822192" y="4352544"/>
            <a:ext cx="3474720" cy="347472"/>
          </a:xfrm>
          <a:prstGeom prst="rect">
            <a:avLst/>
          </a:prstGeom>
          <a:noFill/>
          <a:ln/>
        </p:spPr>
        <p:txBody>
          <a:bodyPr wrap="square" lIns="0" tIns="0" rIns="0" bIns="0" rtlCol="0" anchor="ctr">
            <a:normAutofit/>
          </a:bodyPr>
          <a:lstStyle/>
          <a:p>
            <a:pPr marL="0" indent="0" algn="ctr">
              <a:buNone/>
            </a:pPr>
            <a:r>
              <a:rPr lang="en-US" sz="950" dirty="0">
                <a:solidFill>
                  <a:srgbClr val="A8B3C7"/>
                </a:solidFill>
                <a:latin typeface="Aptos" pitchFamily="34" charset="0"/>
                <a:ea typeface="Aptos" pitchFamily="34" charset="-122"/>
                <a:cs typeface="Aptos" pitchFamily="34" charset="-120"/>
              </a:rPr>
              <a:t>better estimate</a:t>
            </a:r>
            <a:endParaRPr lang="en-US" sz="950" dirty="0"/>
          </a:p>
        </p:txBody>
      </p:sp>
      <p:sp>
        <p:nvSpPr>
          <p:cNvPr id="18" name="Text 16"/>
          <p:cNvSpPr/>
          <p:nvPr/>
        </p:nvSpPr>
        <p:spPr>
          <a:xfrm>
            <a:off x="7662672" y="3913632"/>
            <a:ext cx="3429000" cy="411480"/>
          </a:xfrm>
          <a:prstGeom prst="rect">
            <a:avLst/>
          </a:prstGeom>
          <a:noFill/>
          <a:ln/>
        </p:spPr>
        <p:txBody>
          <a:bodyPr wrap="square" lIns="0" tIns="0" rIns="0" bIns="0" rtlCol="0" anchor="ctr">
            <a:normAutofit/>
          </a:bodyPr>
          <a:lstStyle/>
          <a:p>
            <a:pPr marL="0" indent="0" algn="ctr">
              <a:buNone/>
            </a:pPr>
            <a:r>
              <a:rPr lang="en-US" sz="2400" b="1" dirty="0">
                <a:solidFill>
                  <a:srgbClr val="29B07E"/>
                </a:solidFill>
                <a:latin typeface="Aptos Display" pitchFamily="34" charset="0"/>
                <a:ea typeface="Aptos Display" pitchFamily="34" charset="-122"/>
                <a:cs typeface="Aptos Display" pitchFamily="34" charset="-120"/>
              </a:rPr>
              <a:t>conversion premium library by spec</a:t>
            </a:r>
            <a:endParaRPr lang="en-US" sz="2400" dirty="0"/>
          </a:p>
        </p:txBody>
      </p:sp>
      <p:sp>
        <p:nvSpPr>
          <p:cNvPr id="19" name="Text 17"/>
          <p:cNvSpPr/>
          <p:nvPr/>
        </p:nvSpPr>
        <p:spPr>
          <a:xfrm>
            <a:off x="7662672" y="4352544"/>
            <a:ext cx="3429000" cy="347472"/>
          </a:xfrm>
          <a:prstGeom prst="rect">
            <a:avLst/>
          </a:prstGeom>
          <a:noFill/>
          <a:ln/>
        </p:spPr>
        <p:txBody>
          <a:bodyPr wrap="square" lIns="0" tIns="0" rIns="0" bIns="0" rtlCol="0" anchor="ctr">
            <a:normAutofit/>
          </a:bodyPr>
          <a:lstStyle/>
          <a:p>
            <a:pPr marL="0" indent="0" algn="ctr">
              <a:buNone/>
            </a:pPr>
            <a:r>
              <a:rPr lang="en-US" sz="950" dirty="0">
                <a:solidFill>
                  <a:srgbClr val="A8B3C7"/>
                </a:solidFill>
                <a:latin typeface="Aptos" pitchFamily="34" charset="0"/>
                <a:ea typeface="Aptos" pitchFamily="34" charset="-122"/>
                <a:cs typeface="Aptos" pitchFamily="34" charset="-120"/>
              </a:rPr>
              <a:t>best capability</a:t>
            </a:r>
            <a:endParaRPr lang="en-US" sz="950" dirty="0"/>
          </a:p>
        </p:txBody>
      </p:sp>
      <p:sp>
        <p:nvSpPr>
          <p:cNvPr id="20" name="Text 18"/>
          <p:cNvSpPr/>
          <p:nvPr/>
        </p:nvSpPr>
        <p:spPr>
          <a:xfrm>
            <a:off x="960120" y="5230368"/>
            <a:ext cx="10259568" cy="621792"/>
          </a:xfrm>
          <a:prstGeom prst="roundRect">
            <a:avLst>
              <a:gd name="adj" fmla="val 17647"/>
            </a:avLst>
          </a:prstGeom>
          <a:solidFill>
            <a:srgbClr val="142035"/>
          </a:solidFill>
          <a:ln w="10160">
            <a:solidFill>
              <a:srgbClr val="2F3B52">
                <a:alpha val="85000"/>
              </a:srgbClr>
            </a:solidFill>
          </a:ln>
        </p:spPr>
        <p:txBody>
          <a:bodyPr wrap="square" lIns="1524" tIns="1524" rIns="1524" bIns="1524" rtlCol="0" anchor="ctr">
            <a:normAutofit/>
          </a:bodyPr>
          <a:lstStyle/>
          <a:p>
            <a:pPr marL="0" indent="0">
              <a:buNone/>
            </a:pPr>
            <a:r>
              <a:rPr lang="en-US" sz="1450" dirty="0">
                <a:solidFill>
                  <a:srgbClr val="F7F4E8"/>
                </a:solidFill>
                <a:latin typeface="Aptos" pitchFamily="34" charset="0"/>
                <a:ea typeface="Aptos" pitchFamily="34" charset="-122"/>
                <a:cs typeface="Aptos" pitchFamily="34" charset="-120"/>
              </a:rPr>
              <a:t>Build an internal premium library: NPS, schedule, material grade, route, test level, coating and supplier lead time.</a:t>
            </a:r>
            <a:endParaRPr lang="en-US" sz="14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66928" y="274320"/>
            <a:ext cx="4389120" cy="228600"/>
          </a:xfrm>
          <a:prstGeom prst="rect">
            <a:avLst/>
          </a:prstGeom>
          <a:noFill/>
          <a:ln/>
        </p:spPr>
        <p:txBody>
          <a:bodyPr wrap="square" lIns="0" tIns="0" rIns="0" bIns="0" rtlCol="0" anchor="ctr"/>
          <a:lstStyle/>
          <a:p>
            <a:pPr marL="0" indent="0">
              <a:buNone/>
            </a:pPr>
            <a:r>
              <a:rPr lang="en-US" sz="900" b="1" dirty="0">
                <a:solidFill>
                  <a:srgbClr val="D4A441"/>
                </a:solidFill>
                <a:latin typeface="Aptos" pitchFamily="34" charset="0"/>
                <a:ea typeface="Aptos" pitchFamily="34" charset="-122"/>
                <a:cs typeface="Aptos" pitchFamily="34" charset="-120"/>
              </a:rPr>
              <a:t>ESTIMATION DISCIPLINE</a:t>
            </a:r>
            <a:endParaRPr lang="en-US" sz="900" dirty="0"/>
          </a:p>
        </p:txBody>
      </p:sp>
      <p:sp>
        <p:nvSpPr>
          <p:cNvPr id="3" name="Text 1"/>
          <p:cNvSpPr/>
          <p:nvPr/>
        </p:nvSpPr>
        <p:spPr>
          <a:xfrm>
            <a:off x="548640" y="566928"/>
            <a:ext cx="10789920" cy="502920"/>
          </a:xfrm>
          <a:prstGeom prst="rect">
            <a:avLst/>
          </a:prstGeom>
          <a:noFill/>
          <a:ln/>
        </p:spPr>
        <p:txBody>
          <a:bodyPr wrap="square" lIns="0" tIns="0" rIns="0" bIns="0" rtlCol="0" anchor="ctr">
            <a:normAutofit/>
          </a:bodyPr>
          <a:lstStyle/>
          <a:p>
            <a:pPr marL="0" indent="0">
              <a:buNone/>
            </a:pPr>
            <a:r>
              <a:rPr lang="en-US" sz="2550" b="1" dirty="0">
                <a:solidFill>
                  <a:srgbClr val="F7F4E8"/>
                </a:solidFill>
                <a:latin typeface="Aptos Display" pitchFamily="34" charset="0"/>
                <a:ea typeface="Aptos Display" pitchFamily="34" charset="-122"/>
                <a:cs typeface="Aptos Display" pitchFamily="34" charset="-120"/>
              </a:rPr>
              <a:t>What engineers should ask before challenging a pipe quote</a:t>
            </a:r>
            <a:endParaRPr lang="en-US" sz="2550" dirty="0"/>
          </a:p>
        </p:txBody>
      </p:sp>
      <p:sp>
        <p:nvSpPr>
          <p:cNvPr id="4" name="Text 2"/>
          <p:cNvSpPr/>
          <p:nvPr/>
        </p:nvSpPr>
        <p:spPr>
          <a:xfrm>
            <a:off x="777240" y="1366520"/>
            <a:ext cx="420624" cy="420624"/>
          </a:xfrm>
          <a:prstGeom prst="ellipse">
            <a:avLst/>
          </a:prstGeom>
          <a:solidFill>
            <a:srgbClr val="D4A441"/>
          </a:solidFill>
          <a:ln>
            <a:solidFill>
              <a:srgbClr val="D4A441"/>
            </a:solidFill>
          </a:ln>
        </p:spPr>
        <p:txBody>
          <a:bodyPr wrap="square" lIns="0" tIns="0" rIns="0" bIns="0" rtlCol="0" anchor="ctr"/>
          <a:lstStyle/>
          <a:p>
            <a:pPr marL="0" indent="0" algn="ctr">
              <a:buNone/>
            </a:pPr>
            <a:r>
              <a:rPr lang="en-US" sz="1600" b="1" dirty="0">
                <a:solidFill>
                  <a:srgbClr val="0B1320"/>
                </a:solidFill>
                <a:latin typeface="Aptos Display" pitchFamily="34" charset="0"/>
                <a:ea typeface="Aptos Display" pitchFamily="34" charset="-122"/>
                <a:cs typeface="Aptos Display" pitchFamily="34" charset="-120"/>
              </a:rPr>
              <a:t>1</a:t>
            </a:r>
            <a:endParaRPr lang="en-US" sz="1600" dirty="0"/>
          </a:p>
        </p:txBody>
      </p:sp>
      <p:sp>
        <p:nvSpPr>
          <p:cNvPr id="5" name="Text 3"/>
          <p:cNvSpPr/>
          <p:nvPr/>
        </p:nvSpPr>
        <p:spPr>
          <a:xfrm>
            <a:off x="1417320" y="1459992"/>
            <a:ext cx="3657600" cy="256032"/>
          </a:xfrm>
          <a:prstGeom prst="rect">
            <a:avLst/>
          </a:prstGeom>
          <a:noFill/>
          <a:ln/>
        </p:spPr>
        <p:txBody>
          <a:bodyPr wrap="square" lIns="0" tIns="0" rIns="0" bIns="0" rtlCol="0" anchor="ctr">
            <a:normAutofit/>
          </a:bodyPr>
          <a:lstStyle/>
          <a:p>
            <a:pPr marL="0" indent="0">
              <a:buNone/>
            </a:pPr>
            <a:r>
              <a:rPr lang="en-US" sz="1320" b="1" dirty="0">
                <a:solidFill>
                  <a:srgbClr val="F7F4E8"/>
                </a:solidFill>
                <a:latin typeface="Aptos" pitchFamily="34" charset="0"/>
                <a:ea typeface="Aptos" pitchFamily="34" charset="-122"/>
                <a:cs typeface="Aptos" pitchFamily="34" charset="-120"/>
              </a:rPr>
              <a:t>What is the common basis?</a:t>
            </a:r>
            <a:endParaRPr lang="en-US" sz="1320" dirty="0"/>
          </a:p>
        </p:txBody>
      </p:sp>
      <p:sp>
        <p:nvSpPr>
          <p:cNvPr id="6" name="Text 4"/>
          <p:cNvSpPr/>
          <p:nvPr/>
        </p:nvSpPr>
        <p:spPr>
          <a:xfrm>
            <a:off x="5413248" y="1459992"/>
            <a:ext cx="5833872" cy="256032"/>
          </a:xfrm>
          <a:prstGeom prst="rect">
            <a:avLst/>
          </a:prstGeom>
          <a:noFill/>
          <a:ln/>
        </p:spPr>
        <p:txBody>
          <a:bodyPr wrap="square" lIns="0" tIns="0" rIns="0" bIns="0" rtlCol="0" anchor="ctr">
            <a:normAutofit/>
          </a:bodyPr>
          <a:lstStyle/>
          <a:p>
            <a:pPr marL="0" indent="0">
              <a:buNone/>
            </a:pPr>
            <a:r>
              <a:rPr lang="en-US" sz="1150" dirty="0">
                <a:solidFill>
                  <a:srgbClr val="A8B3C7"/>
                </a:solidFill>
                <a:latin typeface="Aptos" pitchFamily="34" charset="0"/>
                <a:ea typeface="Aptos" pitchFamily="34" charset="-122"/>
                <a:cs typeface="Aptos" pitchFamily="34" charset="-120"/>
              </a:rPr>
              <a:t>kg, metre, piece, NPS, schedule, material, standard</a:t>
            </a:r>
            <a:endParaRPr lang="en-US" sz="1150" dirty="0"/>
          </a:p>
        </p:txBody>
      </p:sp>
      <p:sp>
        <p:nvSpPr>
          <p:cNvPr id="7" name="Text 5"/>
          <p:cNvSpPr/>
          <p:nvPr/>
        </p:nvSpPr>
        <p:spPr>
          <a:xfrm>
            <a:off x="777240" y="2207768"/>
            <a:ext cx="420624" cy="420624"/>
          </a:xfrm>
          <a:prstGeom prst="ellipse">
            <a:avLst/>
          </a:prstGeom>
          <a:solidFill>
            <a:srgbClr val="D4A441"/>
          </a:solidFill>
          <a:ln>
            <a:solidFill>
              <a:srgbClr val="D4A441"/>
            </a:solidFill>
          </a:ln>
        </p:spPr>
        <p:txBody>
          <a:bodyPr wrap="square" lIns="0" tIns="0" rIns="0" bIns="0" rtlCol="0" anchor="ctr"/>
          <a:lstStyle/>
          <a:p>
            <a:pPr marL="0" indent="0" algn="ctr">
              <a:buNone/>
            </a:pPr>
            <a:r>
              <a:rPr lang="en-US" sz="1600" b="1" dirty="0">
                <a:solidFill>
                  <a:srgbClr val="0B1320"/>
                </a:solidFill>
                <a:latin typeface="Aptos Display" pitchFamily="34" charset="0"/>
                <a:ea typeface="Aptos Display" pitchFamily="34" charset="-122"/>
                <a:cs typeface="Aptos Display" pitchFamily="34" charset="-120"/>
              </a:rPr>
              <a:t>2</a:t>
            </a:r>
            <a:endParaRPr lang="en-US" sz="1600" dirty="0"/>
          </a:p>
        </p:txBody>
      </p:sp>
      <p:sp>
        <p:nvSpPr>
          <p:cNvPr id="8" name="Text 6"/>
          <p:cNvSpPr/>
          <p:nvPr/>
        </p:nvSpPr>
        <p:spPr>
          <a:xfrm>
            <a:off x="1417320" y="2301240"/>
            <a:ext cx="3657600" cy="256032"/>
          </a:xfrm>
          <a:prstGeom prst="rect">
            <a:avLst/>
          </a:prstGeom>
          <a:noFill/>
          <a:ln/>
        </p:spPr>
        <p:txBody>
          <a:bodyPr wrap="square" lIns="0" tIns="0" rIns="0" bIns="0" rtlCol="0" anchor="ctr">
            <a:normAutofit/>
          </a:bodyPr>
          <a:lstStyle/>
          <a:p>
            <a:pPr marL="0" indent="0">
              <a:buNone/>
            </a:pPr>
            <a:r>
              <a:rPr lang="en-US" sz="1320" b="1" dirty="0">
                <a:solidFill>
                  <a:srgbClr val="F7F4E8"/>
                </a:solidFill>
                <a:latin typeface="Aptos" pitchFamily="34" charset="0"/>
                <a:ea typeface="Aptos" pitchFamily="34" charset="-122"/>
                <a:cs typeface="Aptos" pitchFamily="34" charset="-120"/>
              </a:rPr>
              <a:t>What transformation is required?</a:t>
            </a:r>
            <a:endParaRPr lang="en-US" sz="1320" dirty="0"/>
          </a:p>
        </p:txBody>
      </p:sp>
      <p:sp>
        <p:nvSpPr>
          <p:cNvPr id="9" name="Text 7"/>
          <p:cNvSpPr/>
          <p:nvPr/>
        </p:nvSpPr>
        <p:spPr>
          <a:xfrm>
            <a:off x="5413248" y="2301240"/>
            <a:ext cx="5833872" cy="256032"/>
          </a:xfrm>
          <a:prstGeom prst="rect">
            <a:avLst/>
          </a:prstGeom>
          <a:noFill/>
          <a:ln/>
        </p:spPr>
        <p:txBody>
          <a:bodyPr wrap="square" lIns="0" tIns="0" rIns="0" bIns="0" rtlCol="0" anchor="ctr">
            <a:normAutofit/>
          </a:bodyPr>
          <a:lstStyle/>
          <a:p>
            <a:pPr marL="0" indent="0">
              <a:buNone/>
            </a:pPr>
            <a:r>
              <a:rPr lang="en-US" sz="1150" dirty="0">
                <a:solidFill>
                  <a:srgbClr val="A8B3C7"/>
                </a:solidFill>
                <a:latin typeface="Aptos" pitchFamily="34" charset="0"/>
                <a:ea typeface="Aptos" pitchFamily="34" charset="-122"/>
                <a:cs typeface="Aptos" pitchFamily="34" charset="-120"/>
              </a:rPr>
              <a:t>seamless or welded route, heat treatment, machining, coating</a:t>
            </a:r>
            <a:endParaRPr lang="en-US" sz="1150" dirty="0"/>
          </a:p>
        </p:txBody>
      </p:sp>
      <p:sp>
        <p:nvSpPr>
          <p:cNvPr id="10" name="Text 8"/>
          <p:cNvSpPr/>
          <p:nvPr/>
        </p:nvSpPr>
        <p:spPr>
          <a:xfrm>
            <a:off x="777240" y="3049016"/>
            <a:ext cx="420624" cy="420624"/>
          </a:xfrm>
          <a:prstGeom prst="ellipse">
            <a:avLst/>
          </a:prstGeom>
          <a:solidFill>
            <a:srgbClr val="D4A441"/>
          </a:solidFill>
          <a:ln>
            <a:solidFill>
              <a:srgbClr val="D4A441"/>
            </a:solidFill>
          </a:ln>
        </p:spPr>
        <p:txBody>
          <a:bodyPr wrap="square" lIns="0" tIns="0" rIns="0" bIns="0" rtlCol="0" anchor="ctr"/>
          <a:lstStyle/>
          <a:p>
            <a:pPr marL="0" indent="0" algn="ctr">
              <a:buNone/>
            </a:pPr>
            <a:r>
              <a:rPr lang="en-US" sz="1600" b="1" dirty="0">
                <a:solidFill>
                  <a:srgbClr val="0B1320"/>
                </a:solidFill>
                <a:latin typeface="Aptos Display" pitchFamily="34" charset="0"/>
                <a:ea typeface="Aptos Display" pitchFamily="34" charset="-122"/>
                <a:cs typeface="Aptos Display" pitchFamily="34" charset="-120"/>
              </a:rPr>
              <a:t>3</a:t>
            </a:r>
            <a:endParaRPr lang="en-US" sz="1600" dirty="0"/>
          </a:p>
        </p:txBody>
      </p:sp>
      <p:sp>
        <p:nvSpPr>
          <p:cNvPr id="11" name="Text 9"/>
          <p:cNvSpPr/>
          <p:nvPr/>
        </p:nvSpPr>
        <p:spPr>
          <a:xfrm>
            <a:off x="1417320" y="3142488"/>
            <a:ext cx="3657600" cy="256032"/>
          </a:xfrm>
          <a:prstGeom prst="rect">
            <a:avLst/>
          </a:prstGeom>
          <a:noFill/>
          <a:ln/>
        </p:spPr>
        <p:txBody>
          <a:bodyPr wrap="square" lIns="0" tIns="0" rIns="0" bIns="0" rtlCol="0" anchor="ctr">
            <a:normAutofit/>
          </a:bodyPr>
          <a:lstStyle/>
          <a:p>
            <a:pPr marL="0" indent="0">
              <a:buNone/>
            </a:pPr>
            <a:r>
              <a:rPr lang="en-US" sz="1320" b="1" dirty="0">
                <a:solidFill>
                  <a:srgbClr val="F7F4E8"/>
                </a:solidFill>
                <a:latin typeface="Aptos" pitchFamily="34" charset="0"/>
                <a:ea typeface="Aptos" pitchFamily="34" charset="-122"/>
                <a:cs typeface="Aptos" pitchFamily="34" charset="-120"/>
              </a:rPr>
              <a:t>What assurance is demanded?</a:t>
            </a:r>
            <a:endParaRPr lang="en-US" sz="1320" dirty="0"/>
          </a:p>
        </p:txBody>
      </p:sp>
      <p:sp>
        <p:nvSpPr>
          <p:cNvPr id="12" name="Text 10"/>
          <p:cNvSpPr/>
          <p:nvPr/>
        </p:nvSpPr>
        <p:spPr>
          <a:xfrm>
            <a:off x="5413248" y="3142488"/>
            <a:ext cx="5833872" cy="256032"/>
          </a:xfrm>
          <a:prstGeom prst="rect">
            <a:avLst/>
          </a:prstGeom>
          <a:noFill/>
          <a:ln/>
        </p:spPr>
        <p:txBody>
          <a:bodyPr wrap="square" lIns="0" tIns="0" rIns="0" bIns="0" rtlCol="0" anchor="ctr">
            <a:normAutofit/>
          </a:bodyPr>
          <a:lstStyle/>
          <a:p>
            <a:pPr marL="0" indent="0">
              <a:buNone/>
            </a:pPr>
            <a:r>
              <a:rPr lang="en-US" sz="1150" dirty="0">
                <a:solidFill>
                  <a:srgbClr val="A8B3C7"/>
                </a:solidFill>
                <a:latin typeface="Aptos" pitchFamily="34" charset="0"/>
                <a:ea typeface="Aptos" pitchFamily="34" charset="-122"/>
                <a:cs typeface="Aptos" pitchFamily="34" charset="-120"/>
              </a:rPr>
              <a:t>NDT, hydrotest, PMI, MTC, TPI, ITP, traceability</a:t>
            </a:r>
            <a:endParaRPr lang="en-US" sz="1150" dirty="0"/>
          </a:p>
        </p:txBody>
      </p:sp>
      <p:sp>
        <p:nvSpPr>
          <p:cNvPr id="13" name="Text 11"/>
          <p:cNvSpPr/>
          <p:nvPr/>
        </p:nvSpPr>
        <p:spPr>
          <a:xfrm>
            <a:off x="777240" y="3890264"/>
            <a:ext cx="420624" cy="420624"/>
          </a:xfrm>
          <a:prstGeom prst="ellipse">
            <a:avLst/>
          </a:prstGeom>
          <a:solidFill>
            <a:srgbClr val="D4A441"/>
          </a:solidFill>
          <a:ln>
            <a:solidFill>
              <a:srgbClr val="D4A441"/>
            </a:solidFill>
          </a:ln>
        </p:spPr>
        <p:txBody>
          <a:bodyPr wrap="square" lIns="0" tIns="0" rIns="0" bIns="0" rtlCol="0" anchor="ctr"/>
          <a:lstStyle/>
          <a:p>
            <a:pPr marL="0" indent="0" algn="ctr">
              <a:buNone/>
            </a:pPr>
            <a:r>
              <a:rPr lang="en-US" sz="1600" b="1" dirty="0">
                <a:solidFill>
                  <a:srgbClr val="0B1320"/>
                </a:solidFill>
                <a:latin typeface="Aptos Display" pitchFamily="34" charset="0"/>
                <a:ea typeface="Aptos Display" pitchFamily="34" charset="-122"/>
                <a:cs typeface="Aptos Display" pitchFamily="34" charset="-120"/>
              </a:rPr>
              <a:t>4</a:t>
            </a:r>
            <a:endParaRPr lang="en-US" sz="1600" dirty="0"/>
          </a:p>
        </p:txBody>
      </p:sp>
      <p:sp>
        <p:nvSpPr>
          <p:cNvPr id="14" name="Text 12"/>
          <p:cNvSpPr/>
          <p:nvPr/>
        </p:nvSpPr>
        <p:spPr>
          <a:xfrm>
            <a:off x="1417320" y="3983736"/>
            <a:ext cx="3657600" cy="256032"/>
          </a:xfrm>
          <a:prstGeom prst="rect">
            <a:avLst/>
          </a:prstGeom>
          <a:noFill/>
          <a:ln/>
        </p:spPr>
        <p:txBody>
          <a:bodyPr wrap="square" lIns="0" tIns="0" rIns="0" bIns="0" rtlCol="0" anchor="ctr">
            <a:normAutofit/>
          </a:bodyPr>
          <a:lstStyle/>
          <a:p>
            <a:pPr marL="0" indent="0">
              <a:buNone/>
            </a:pPr>
            <a:r>
              <a:rPr lang="en-US" sz="1320" b="1" dirty="0">
                <a:solidFill>
                  <a:srgbClr val="F7F4E8"/>
                </a:solidFill>
                <a:latin typeface="Aptos" pitchFamily="34" charset="0"/>
                <a:ea typeface="Aptos" pitchFamily="34" charset="-122"/>
                <a:cs typeface="Aptos" pitchFamily="34" charset="-120"/>
              </a:rPr>
              <a:t>What supply risk is priced?</a:t>
            </a:r>
            <a:endParaRPr lang="en-US" sz="1320" dirty="0"/>
          </a:p>
        </p:txBody>
      </p:sp>
      <p:sp>
        <p:nvSpPr>
          <p:cNvPr id="15" name="Text 13"/>
          <p:cNvSpPr/>
          <p:nvPr/>
        </p:nvSpPr>
        <p:spPr>
          <a:xfrm>
            <a:off x="5413248" y="3983736"/>
            <a:ext cx="5833872" cy="256032"/>
          </a:xfrm>
          <a:prstGeom prst="rect">
            <a:avLst/>
          </a:prstGeom>
          <a:noFill/>
          <a:ln/>
        </p:spPr>
        <p:txBody>
          <a:bodyPr wrap="square" lIns="0" tIns="0" rIns="0" bIns="0" rtlCol="0" anchor="ctr">
            <a:normAutofit/>
          </a:bodyPr>
          <a:lstStyle/>
          <a:p>
            <a:pPr marL="0" indent="0">
              <a:buNone/>
            </a:pPr>
            <a:r>
              <a:rPr lang="en-US" sz="1150" dirty="0">
                <a:solidFill>
                  <a:srgbClr val="A8B3C7"/>
                </a:solidFill>
                <a:latin typeface="Aptos" pitchFamily="34" charset="0"/>
                <a:ea typeface="Aptos" pitchFamily="34" charset="-122"/>
                <a:cs typeface="Aptos" pitchFamily="34" charset="-120"/>
              </a:rPr>
              <a:t>MOQ, lead time, freight, inventory, financing, market scarcity</a:t>
            </a:r>
            <a:endParaRPr lang="en-US" sz="1150" dirty="0"/>
          </a:p>
        </p:txBody>
      </p:sp>
      <p:sp>
        <p:nvSpPr>
          <p:cNvPr id="16" name="Text 14"/>
          <p:cNvSpPr/>
          <p:nvPr/>
        </p:nvSpPr>
        <p:spPr>
          <a:xfrm>
            <a:off x="777240" y="4731512"/>
            <a:ext cx="420624" cy="420624"/>
          </a:xfrm>
          <a:prstGeom prst="ellipse">
            <a:avLst/>
          </a:prstGeom>
          <a:solidFill>
            <a:srgbClr val="D4A441"/>
          </a:solidFill>
          <a:ln>
            <a:solidFill>
              <a:srgbClr val="D4A441"/>
            </a:solidFill>
          </a:ln>
        </p:spPr>
        <p:txBody>
          <a:bodyPr wrap="square" lIns="0" tIns="0" rIns="0" bIns="0" rtlCol="0" anchor="ctr"/>
          <a:lstStyle/>
          <a:p>
            <a:pPr marL="0" indent="0" algn="ctr">
              <a:buNone/>
            </a:pPr>
            <a:r>
              <a:rPr lang="en-US" sz="1600" b="1" dirty="0">
                <a:solidFill>
                  <a:srgbClr val="0B1320"/>
                </a:solidFill>
                <a:latin typeface="Aptos Display" pitchFamily="34" charset="0"/>
                <a:ea typeface="Aptos Display" pitchFamily="34" charset="-122"/>
                <a:cs typeface="Aptos Display" pitchFamily="34" charset="-120"/>
              </a:rPr>
              <a:t>5</a:t>
            </a:r>
            <a:endParaRPr lang="en-US" sz="1600" dirty="0"/>
          </a:p>
        </p:txBody>
      </p:sp>
      <p:sp>
        <p:nvSpPr>
          <p:cNvPr id="17" name="Text 15"/>
          <p:cNvSpPr/>
          <p:nvPr/>
        </p:nvSpPr>
        <p:spPr>
          <a:xfrm>
            <a:off x="1417320" y="4824984"/>
            <a:ext cx="3657600" cy="256032"/>
          </a:xfrm>
          <a:prstGeom prst="rect">
            <a:avLst/>
          </a:prstGeom>
          <a:noFill/>
          <a:ln/>
        </p:spPr>
        <p:txBody>
          <a:bodyPr wrap="square" lIns="0" tIns="0" rIns="0" bIns="0" rtlCol="0" anchor="ctr">
            <a:normAutofit/>
          </a:bodyPr>
          <a:lstStyle/>
          <a:p>
            <a:pPr marL="0" indent="0">
              <a:buNone/>
            </a:pPr>
            <a:r>
              <a:rPr lang="en-US" sz="1320" b="1" dirty="0">
                <a:solidFill>
                  <a:srgbClr val="F7F4E8"/>
                </a:solidFill>
                <a:latin typeface="Aptos" pitchFamily="34" charset="0"/>
                <a:ea typeface="Aptos" pitchFamily="34" charset="-122"/>
                <a:cs typeface="Aptos" pitchFamily="34" charset="-120"/>
              </a:rPr>
              <a:t>Can we benchmark the premium?</a:t>
            </a:r>
            <a:endParaRPr lang="en-US" sz="1320" dirty="0"/>
          </a:p>
        </p:txBody>
      </p:sp>
      <p:sp>
        <p:nvSpPr>
          <p:cNvPr id="18" name="Text 16"/>
          <p:cNvSpPr/>
          <p:nvPr/>
        </p:nvSpPr>
        <p:spPr>
          <a:xfrm>
            <a:off x="5413248" y="4824984"/>
            <a:ext cx="5833872" cy="256032"/>
          </a:xfrm>
          <a:prstGeom prst="rect">
            <a:avLst/>
          </a:prstGeom>
          <a:noFill/>
          <a:ln/>
        </p:spPr>
        <p:txBody>
          <a:bodyPr wrap="square" lIns="0" tIns="0" rIns="0" bIns="0" rtlCol="0" anchor="ctr">
            <a:normAutofit/>
          </a:bodyPr>
          <a:lstStyle/>
          <a:p>
            <a:pPr marL="0" indent="0">
              <a:buNone/>
            </a:pPr>
            <a:r>
              <a:rPr lang="en-US" sz="1150" dirty="0">
                <a:solidFill>
                  <a:srgbClr val="A8B3C7"/>
                </a:solidFill>
                <a:latin typeface="Aptos" pitchFamily="34" charset="0"/>
                <a:ea typeface="Aptos" pitchFamily="34" charset="-122"/>
                <a:cs typeface="Aptos" pitchFamily="34" charset="-120"/>
              </a:rPr>
              <a:t>historical PO, market quote, vendor breakup, internal cost model</a:t>
            </a:r>
            <a:endParaRPr lang="en-US" sz="1150" dirty="0"/>
          </a:p>
        </p:txBody>
      </p:sp>
      <p:sp>
        <p:nvSpPr>
          <p:cNvPr id="19" name="Text 17"/>
          <p:cNvSpPr/>
          <p:nvPr/>
        </p:nvSpPr>
        <p:spPr>
          <a:xfrm>
            <a:off x="1051560" y="5650992"/>
            <a:ext cx="10058400" cy="493776"/>
          </a:xfrm>
          <a:prstGeom prst="roundRect">
            <a:avLst>
              <a:gd name="adj" fmla="val 22222"/>
            </a:avLst>
          </a:prstGeom>
          <a:solidFill>
            <a:srgbClr val="142035"/>
          </a:solidFill>
          <a:ln w="10160">
            <a:solidFill>
              <a:srgbClr val="2F3B52">
                <a:alpha val="85000"/>
              </a:srgbClr>
            </a:solidFill>
          </a:ln>
        </p:spPr>
        <p:txBody>
          <a:bodyPr wrap="square" lIns="1524" tIns="1524" rIns="1524" bIns="1524" rtlCol="0" anchor="ctr">
            <a:normAutofit/>
          </a:bodyPr>
          <a:lstStyle/>
          <a:p>
            <a:pPr marL="0" indent="0">
              <a:buNone/>
            </a:pPr>
            <a:r>
              <a:rPr lang="en-US" sz="1420" dirty="0">
                <a:solidFill>
                  <a:srgbClr val="F7F4E8"/>
                </a:solidFill>
                <a:latin typeface="Aptos" pitchFamily="34" charset="0"/>
                <a:ea typeface="Aptos" pitchFamily="34" charset="-122"/>
                <a:cs typeface="Aptos" pitchFamily="34" charset="-120"/>
              </a:rPr>
              <a:t>This changes the conversation from “why so costly?” to “which value drivers explain the premium?”</a:t>
            </a:r>
            <a:endParaRPr lang="en-US" sz="1420" dirty="0"/>
          </a:p>
        </p:txBody>
      </p:sp>
      <p:sp>
        <p:nvSpPr>
          <p:cNvPr id="25" name="Slide Number Placeholder 0"/>
          <p:cNvSpPr>
            <a:spLocks noGrp="1"/>
          </p:cNvSpPr>
          <p:nvPr>
            <p:ph type="sldNum" sz="quarter" idx="4294967295"/>
          </p:nvPr>
        </p:nvSpPr>
        <p:spPr>
          <a:xfrm>
            <a:off x="11475720" y="675436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0"/>
        </a:solidFill>
        <a:effectLst/>
      </p:bgPr>
    </p:bg>
    <p:spTree>
      <p:nvGrpSpPr>
        <p:cNvPr id="1" name=""/>
        <p:cNvGrpSpPr/>
        <p:nvPr/>
      </p:nvGrpSpPr>
      <p:grpSpPr>
        <a:xfrm>
          <a:off x="0" y="0"/>
          <a:ext cx="0" cy="0"/>
          <a:chOff x="0" y="0"/>
          <a:chExt cx="0" cy="0"/>
        </a:xfrm>
      </p:grpSpPr>
      <p:sp>
        <p:nvSpPr>
          <p:cNvPr id="2" name="Text 0"/>
          <p:cNvSpPr/>
          <p:nvPr/>
        </p:nvSpPr>
        <p:spPr>
          <a:xfrm>
            <a:off x="566928" y="274320"/>
            <a:ext cx="4389120" cy="228600"/>
          </a:xfrm>
          <a:prstGeom prst="rect">
            <a:avLst/>
          </a:prstGeom>
          <a:noFill/>
          <a:ln/>
        </p:spPr>
        <p:txBody>
          <a:bodyPr wrap="square" lIns="0" tIns="0" rIns="0" bIns="0" rtlCol="0" anchor="ctr"/>
          <a:lstStyle/>
          <a:p>
            <a:pPr marL="0" indent="0">
              <a:buNone/>
            </a:pPr>
            <a:r>
              <a:rPr lang="en-US" sz="900" b="1" dirty="0">
                <a:solidFill>
                  <a:srgbClr val="D4A441"/>
                </a:solidFill>
                <a:latin typeface="Aptos" pitchFamily="34" charset="0"/>
                <a:ea typeface="Aptos" pitchFamily="34" charset="-122"/>
                <a:cs typeface="Aptos" pitchFamily="34" charset="-120"/>
              </a:rPr>
              <a:t>CEO MINDSET</a:t>
            </a:r>
            <a:endParaRPr lang="en-US" sz="900" dirty="0"/>
          </a:p>
        </p:txBody>
      </p:sp>
      <p:sp>
        <p:nvSpPr>
          <p:cNvPr id="3" name="Text 1"/>
          <p:cNvSpPr/>
          <p:nvPr/>
        </p:nvSpPr>
        <p:spPr>
          <a:xfrm>
            <a:off x="548640" y="566928"/>
            <a:ext cx="10789920" cy="502920"/>
          </a:xfrm>
          <a:prstGeom prst="rect">
            <a:avLst/>
          </a:prstGeom>
          <a:noFill/>
          <a:ln/>
        </p:spPr>
        <p:txBody>
          <a:bodyPr wrap="square" lIns="0" tIns="0" rIns="0" bIns="0" rtlCol="0" anchor="ctr">
            <a:normAutofit/>
          </a:bodyPr>
          <a:lstStyle/>
          <a:p>
            <a:pPr marL="0" indent="0">
              <a:buNone/>
            </a:pPr>
            <a:r>
              <a:rPr lang="en-US" sz="2550" b="1" dirty="0">
                <a:solidFill>
                  <a:srgbClr val="F7F4E8"/>
                </a:solidFill>
                <a:latin typeface="Aptos Display" pitchFamily="34" charset="0"/>
                <a:ea typeface="Aptos Display" pitchFamily="34" charset="-122"/>
                <a:cs typeface="Aptos Display" pitchFamily="34" charset="-120"/>
              </a:rPr>
              <a:t>The leadership takeaway</a:t>
            </a:r>
            <a:endParaRPr lang="en-US" sz="2550" dirty="0"/>
          </a:p>
        </p:txBody>
      </p:sp>
      <p:sp>
        <p:nvSpPr>
          <p:cNvPr id="4" name="Text 2"/>
          <p:cNvSpPr/>
          <p:nvPr/>
        </p:nvSpPr>
        <p:spPr>
          <a:xfrm>
            <a:off x="1005840" y="1371600"/>
            <a:ext cx="10149840" cy="713232"/>
          </a:xfrm>
          <a:prstGeom prst="rect">
            <a:avLst/>
          </a:prstGeom>
          <a:noFill/>
          <a:ln/>
        </p:spPr>
        <p:txBody>
          <a:bodyPr wrap="square" lIns="0" tIns="0" rIns="0" bIns="0" rtlCol="0" anchor="ctr">
            <a:normAutofit/>
          </a:bodyPr>
          <a:lstStyle/>
          <a:p>
            <a:pPr marL="0" indent="0" algn="ctr">
              <a:buNone/>
            </a:pPr>
            <a:r>
              <a:rPr lang="en-US" sz="3000" b="1" dirty="0">
                <a:solidFill>
                  <a:srgbClr val="D4A441"/>
                </a:solidFill>
                <a:latin typeface="Aptos Display" pitchFamily="34" charset="0"/>
                <a:ea typeface="Aptos Display" pitchFamily="34" charset="-122"/>
                <a:cs typeface="Aptos Display" pitchFamily="34" charset="-120"/>
              </a:rPr>
              <a:t>Raw material is an input. Specification converts it into enterprise value.</a:t>
            </a:r>
            <a:endParaRPr lang="en-US" sz="3000" dirty="0"/>
          </a:p>
        </p:txBody>
      </p:sp>
      <p:sp>
        <p:nvSpPr>
          <p:cNvPr id="5" name="Text 3"/>
          <p:cNvSpPr/>
          <p:nvPr/>
        </p:nvSpPr>
        <p:spPr>
          <a:xfrm>
            <a:off x="960120" y="2514600"/>
            <a:ext cx="3246120" cy="1005840"/>
          </a:xfrm>
          <a:prstGeom prst="roundRect">
            <a:avLst>
              <a:gd name="adj" fmla="val 10909"/>
            </a:avLst>
          </a:prstGeom>
          <a:solidFill>
            <a:srgbClr val="182235"/>
          </a:solidFill>
          <a:ln w="10160">
            <a:solidFill>
              <a:srgbClr val="2F3B52">
                <a:alpha val="85000"/>
              </a:srgbClr>
            </a:solidFill>
          </a:ln>
        </p:spPr>
        <p:txBody>
          <a:bodyPr wrap="square" lIns="1524" tIns="1524" rIns="1524" bIns="1524" rtlCol="0" anchor="ctr">
            <a:normAutofit/>
          </a:bodyPr>
          <a:lstStyle/>
          <a:p>
            <a:pPr marL="0" indent="0">
              <a:buNone/>
            </a:pPr>
            <a:r>
              <a:rPr lang="en-US" sz="1550" dirty="0">
                <a:solidFill>
                  <a:srgbClr val="F7F4E8"/>
                </a:solidFill>
                <a:latin typeface="Aptos" pitchFamily="34" charset="0"/>
                <a:ea typeface="Aptos" pitchFamily="34" charset="-122"/>
                <a:cs typeface="Aptos" pitchFamily="34" charset="-120"/>
              </a:rPr>
              <a:t>For engineers: estimate the transformation, not just the metal.</a:t>
            </a:r>
            <a:endParaRPr lang="en-US" sz="1550" dirty="0"/>
          </a:p>
        </p:txBody>
      </p:sp>
      <p:sp>
        <p:nvSpPr>
          <p:cNvPr id="6" name="Text 4"/>
          <p:cNvSpPr/>
          <p:nvPr/>
        </p:nvSpPr>
        <p:spPr>
          <a:xfrm>
            <a:off x="4480560" y="2514600"/>
            <a:ext cx="3246120" cy="1005840"/>
          </a:xfrm>
          <a:prstGeom prst="roundRect">
            <a:avLst>
              <a:gd name="adj" fmla="val 10909"/>
            </a:avLst>
          </a:prstGeom>
          <a:solidFill>
            <a:srgbClr val="182235"/>
          </a:solidFill>
          <a:ln w="10160">
            <a:solidFill>
              <a:srgbClr val="2F3B52">
                <a:alpha val="85000"/>
              </a:srgbClr>
            </a:solidFill>
          </a:ln>
        </p:spPr>
        <p:txBody>
          <a:bodyPr wrap="square" lIns="1524" tIns="1524" rIns="1524" bIns="1524" rtlCol="0" anchor="ctr">
            <a:normAutofit/>
          </a:bodyPr>
          <a:lstStyle/>
          <a:p>
            <a:pPr marL="0" indent="0">
              <a:buNone/>
            </a:pPr>
            <a:r>
              <a:rPr lang="en-US" sz="1550" dirty="0">
                <a:solidFill>
                  <a:srgbClr val="F7F4E8"/>
                </a:solidFill>
                <a:latin typeface="Aptos" pitchFamily="34" charset="0"/>
                <a:ea typeface="Aptos" pitchFamily="34" charset="-122"/>
                <a:cs typeface="Aptos" pitchFamily="34" charset="-120"/>
              </a:rPr>
              <a:t>For procurement: ask for quote structure and benchmark conversion premium.</a:t>
            </a:r>
            <a:endParaRPr lang="en-US" sz="1550" dirty="0"/>
          </a:p>
        </p:txBody>
      </p:sp>
      <p:sp>
        <p:nvSpPr>
          <p:cNvPr id="7" name="Text 5"/>
          <p:cNvSpPr/>
          <p:nvPr/>
        </p:nvSpPr>
        <p:spPr>
          <a:xfrm>
            <a:off x="8001000" y="2514600"/>
            <a:ext cx="3246120" cy="1005840"/>
          </a:xfrm>
          <a:prstGeom prst="roundRect">
            <a:avLst>
              <a:gd name="adj" fmla="val 10909"/>
            </a:avLst>
          </a:prstGeom>
          <a:solidFill>
            <a:srgbClr val="182235"/>
          </a:solidFill>
          <a:ln w="10160">
            <a:solidFill>
              <a:srgbClr val="2F3B52">
                <a:alpha val="85000"/>
              </a:srgbClr>
            </a:solidFill>
          </a:ln>
        </p:spPr>
        <p:txBody>
          <a:bodyPr wrap="square" lIns="1524" tIns="1524" rIns="1524" bIns="1524" rtlCol="0" anchor="ctr">
            <a:normAutofit/>
          </a:bodyPr>
          <a:lstStyle/>
          <a:p>
            <a:pPr marL="0" indent="0">
              <a:buNone/>
            </a:pPr>
            <a:r>
              <a:rPr lang="en-US" sz="1550" dirty="0">
                <a:solidFill>
                  <a:srgbClr val="F7F4E8"/>
                </a:solidFill>
                <a:latin typeface="Aptos" pitchFamily="34" charset="0"/>
                <a:ea typeface="Aptos" pitchFamily="34" charset="-122"/>
                <a:cs typeface="Aptos" pitchFamily="34" charset="-120"/>
              </a:rPr>
              <a:t>For management: build a governed price intelligence capability.</a:t>
            </a:r>
            <a:endParaRPr lang="en-US" sz="1550" dirty="0"/>
          </a:p>
        </p:txBody>
      </p:sp>
      <p:sp>
        <p:nvSpPr>
          <p:cNvPr id="8" name="Text 6"/>
          <p:cNvSpPr/>
          <p:nvPr/>
        </p:nvSpPr>
        <p:spPr>
          <a:xfrm>
            <a:off x="1097280" y="4279392"/>
            <a:ext cx="2743200" cy="292608"/>
          </a:xfrm>
          <a:prstGeom prst="rect">
            <a:avLst/>
          </a:prstGeom>
          <a:noFill/>
          <a:ln/>
        </p:spPr>
        <p:txBody>
          <a:bodyPr wrap="square" lIns="0" tIns="0" rIns="0" bIns="0" rtlCol="0" anchor="ctr"/>
          <a:lstStyle/>
          <a:p>
            <a:pPr marL="0" indent="0">
              <a:buNone/>
            </a:pPr>
            <a:r>
              <a:rPr lang="en-US" sz="1400" b="1" dirty="0">
                <a:solidFill>
                  <a:srgbClr val="F7F4E8"/>
                </a:solidFill>
                <a:latin typeface="Aptos" pitchFamily="34" charset="0"/>
                <a:ea typeface="Aptos" pitchFamily="34" charset="-122"/>
                <a:cs typeface="Aptos" pitchFamily="34" charset="-120"/>
              </a:rPr>
              <a:t>Next practical experiment</a:t>
            </a:r>
            <a:endParaRPr lang="en-US" sz="1400" dirty="0"/>
          </a:p>
        </p:txBody>
      </p:sp>
      <p:sp>
        <p:nvSpPr>
          <p:cNvPr id="9" name="Text 7"/>
          <p:cNvSpPr/>
          <p:nvPr/>
        </p:nvSpPr>
        <p:spPr>
          <a:xfrm>
            <a:off x="1097280" y="4663440"/>
            <a:ext cx="10012680" cy="566928"/>
          </a:xfrm>
          <a:prstGeom prst="rect">
            <a:avLst/>
          </a:prstGeom>
          <a:noFill/>
          <a:ln/>
        </p:spPr>
        <p:txBody>
          <a:bodyPr wrap="square" lIns="0" tIns="0" rIns="0" bIns="0" rtlCol="0" anchor="ctr">
            <a:normAutofit/>
          </a:bodyPr>
          <a:lstStyle/>
          <a:p>
            <a:pPr marL="0" indent="0" algn="ctr">
              <a:buNone/>
            </a:pPr>
            <a:r>
              <a:rPr lang="en-US" sz="1600" dirty="0">
                <a:solidFill>
                  <a:srgbClr val="A8B3C7"/>
                </a:solidFill>
                <a:latin typeface="Aptos" pitchFamily="34" charset="0"/>
                <a:ea typeface="Aptos" pitchFamily="34" charset="-122"/>
                <a:cs typeface="Aptos" pitchFamily="34" charset="-120"/>
              </a:rPr>
              <a:t>Take 20 recent pipe POs. Split price into raw steel equivalent, conversion premium, testing and logistics. Create a reusable benchmark table by NPS, schedule, material and specification.</a:t>
            </a:r>
            <a:endParaRPr lang="en-US" sz="1600" dirty="0"/>
          </a:p>
        </p:txBody>
      </p:sp>
      <p:sp>
        <p:nvSpPr>
          <p:cNvPr id="10" name="Text 8"/>
          <p:cNvSpPr/>
          <p:nvPr/>
        </p:nvSpPr>
        <p:spPr>
          <a:xfrm>
            <a:off x="1975104" y="5486400"/>
            <a:ext cx="8229600" cy="411480"/>
          </a:xfrm>
          <a:prstGeom prst="roundRect">
            <a:avLst>
              <a:gd name="adj" fmla="val 17778"/>
            </a:avLst>
          </a:prstGeom>
          <a:solidFill>
            <a:srgbClr val="29B07E"/>
          </a:solidFill>
          <a:ln>
            <a:solidFill>
              <a:srgbClr val="29B07E">
                <a:alpha val="0"/>
              </a:srgbClr>
            </a:solidFill>
          </a:ln>
        </p:spPr>
        <p:txBody>
          <a:bodyPr wrap="square" lIns="508" tIns="508" rIns="508" bIns="508" rtlCol="0" anchor="ctr"/>
          <a:lstStyle/>
          <a:p>
            <a:pPr marL="0" indent="0" algn="ctr">
              <a:buNone/>
            </a:pPr>
            <a:r>
              <a:rPr lang="en-US" sz="1320" b="1" dirty="0">
                <a:solidFill>
                  <a:srgbClr val="FF0000"/>
                </a:solidFill>
                <a:latin typeface="Aptos" pitchFamily="34" charset="0"/>
                <a:ea typeface="Aptos" pitchFamily="34" charset="-122"/>
                <a:cs typeface="Aptos" pitchFamily="34" charset="-120"/>
              </a:rPr>
              <a:t>Outcome</a:t>
            </a:r>
            <a:r>
              <a:rPr lang="en-US" sz="1320" b="1" dirty="0">
                <a:solidFill>
                  <a:srgbClr val="FFFFFF"/>
                </a:solidFill>
                <a:latin typeface="Aptos" pitchFamily="34" charset="0"/>
                <a:ea typeface="Aptos" pitchFamily="34" charset="-122"/>
                <a:cs typeface="Aptos" pitchFamily="34" charset="-120"/>
              </a:rPr>
              <a:t>: better estimates, better negotiations, fewer surprises before procurement.</a:t>
            </a:r>
            <a:endParaRPr lang="en-US" sz="132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8493A9"/>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1162</Words>
  <Application>Microsoft Office PowerPoint</Application>
  <PresentationFormat>Widescreen</PresentationFormat>
  <Paragraphs>168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Potato to Chips, From Steel to Pipe</dc:title>
  <dc:subject>Potato-to-chips analogy for raw steel-to-finished pipe pricing</dc:subject>
  <dc:creator>OpenAI</dc:creator>
  <cp:lastModifiedBy>Medini Kr. Bora [मेदिनी कुमार बोरा]</cp:lastModifiedBy>
  <cp:revision>6</cp:revision>
  <dcterms:created xsi:type="dcterms:W3CDTF">2026-07-24T02:49:15Z</dcterms:created>
  <dcterms:modified xsi:type="dcterms:W3CDTF">2026-07-24T04:14:35Z</dcterms:modified>
</cp:coreProperties>
</file>